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3B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7237"/>
    <p:restoredTop sz="94669"/>
  </p:normalViewPr>
  <p:slideViewPr>
    <p:cSldViewPr>
      <p:cViewPr varScale="1">
        <p:scale>
          <a:sx d="100" n="111"/>
          <a:sy d="100" n="111"/>
        </p:scale>
        <p:origin x="1764" y="114"/>
      </p:cViewPr>
      <p:guideLst>
        <p:guide orient="horz" pos="2880"/>
        <p:guide pos="216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" Type="http://schemas.openxmlformats.org/officeDocument/2006/relationships/slideMaster" Target="slideMasters/slideMaster1.xml" /><Relationship Id="rId17" Type="http://schemas.openxmlformats.org/officeDocument/2006/relationships/presProps" Target="presProps.xml" /><Relationship Id="rId18" Type="http://schemas.openxmlformats.org/officeDocument/2006/relationships/viewProps" Target="viewProps.xml" /><Relationship Id="rId19" Type="http://schemas.openxmlformats.org/officeDocument/2006/relationships/theme" Target="theme/theme1.xml" /><Relationship Id="rId20" Type="http://schemas.openxmlformats.org/officeDocument/2006/relationships/tableStyles" Target="tableStyles.xml" /><Relationship Id="rId21" Type="http://schemas.microsoft.com/office/2016/11/relationships/changesInfo" Target="changesInfos/changesInfo1.xml" /><Relationship Id="rId22" Type="http://schemas.microsoft.com/office/2015/10/relationships/revisionInfo" Target="revisionInfo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theme/theme1.xml" Type="http://schemas.openxmlformats.org/officeDocument/2006/relationships/theme" /><Relationship Id="rId8" Type="http://schemas.openxmlformats.org/officeDocument/2006/relationships/slideLayout" Target="../slideLayouts/slideLayout3.xml" /><Relationship Id="rId7" Type="http://schemas.openxmlformats.org/officeDocument/2006/relationships/slideLayout" Target="../slideLayouts/slideLayout4.xml" /><Relationship Id="rId6" Type="http://schemas.openxmlformats.org/officeDocument/2006/relationships/slideLayout" Target="../slideLayouts/slideLayout5.xml" /><Relationship Id="rId5" Type="http://schemas.openxmlformats.org/officeDocument/2006/relationships/slideLayout" Target="../slideLayouts/slideLayout8.xml" /><Relationship Id="rId4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idx="1" type="body"/>
          </p:nvPr>
        </p:nvSpPr>
        <p:spPr>
          <a:xfrm>
            <a:off x="977660" y="5105400"/>
            <a:ext cx="10834217" cy="276999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idx="5" sz="quarter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Holder 5"/>
          <p:cNvSpPr>
            <a:spLocks noGrp="1"/>
          </p:cNvSpPr>
          <p:nvPr>
            <p:ph idx="6" sz="half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idx="7" sz="quarter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bg object 16">
            <a:extLst>
              <a:ext uri="{FF2B5EF4-FFF2-40B4-BE49-F238E27FC236}">
                <a16:creationId xmlns:a16="http://schemas.microsoft.com/office/drawing/2014/main" id="{C8E0A127-FBDB-C3EA-A027-48921689A998}"/>
              </a:ext>
            </a:extLst>
          </p:cNvPr>
          <p:cNvSpPr/>
          <p:nvPr userDrawn="1"/>
        </p:nvSpPr>
        <p:spPr>
          <a:xfrm>
            <a:off x="1066800" y="407670"/>
            <a:ext cx="0" cy="914400"/>
          </a:xfrm>
          <a:custGeom>
            <a:avLst/>
            <a:gdLst/>
            <a:ahLst/>
            <a:cxnLst/>
            <a:rect b="b" l="l" r="r" t="t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A63B14"/>
            </a:solidFill>
          </a:ln>
        </p:spPr>
        <p:txBody>
          <a:bodyPr bIns="0" lIns="0" rIns="0" rtlCol="0" tIns="0" wrap="square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17661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8" r:id="rId1"/>
    <p:sldLayoutId id="2147483669" r:id="rId2"/>
    <p:sldLayoutId id="2147483674" r:id="rId8"/>
    <p:sldLayoutId id="2147483673" r:id="rId7"/>
    <p:sldLayoutId id="2147483672" r:id="rId6"/>
    <p:sldLayoutId id="2147483671" r:id="rId5"/>
    <p:sldLayoutId id="2147483670" r:id="rId4"/>
  </p:sldLayoutIdLst>
  <p:txStyles>
    <p:titleStyle>
      <a:lvl1pPr eaLnBrk="1" hangingPunct="1">
        <a:defRPr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eaLnBrk="1" hangingPunct="1" marL="0">
        <a:defRPr>
          <a:latin charset="0" panose="020B0502040204020203" pitchFamily="34" typeface="Bahnschrift"/>
          <a:ea typeface="+mn-ea"/>
          <a:cs typeface="+mn-cs"/>
        </a:defRPr>
      </a:lvl1pPr>
      <a:lvl2pPr eaLnBrk="1" hangingPunct="1" marL="457200">
        <a:defRPr>
          <a:latin typeface="+mn-lt"/>
          <a:ea typeface="+mn-ea"/>
          <a:cs typeface="+mn-cs"/>
        </a:defRPr>
      </a:lvl2pPr>
      <a:lvl3pPr eaLnBrk="1" hangingPunct="1" marL="914400">
        <a:defRPr>
          <a:latin typeface="+mn-lt"/>
          <a:ea typeface="+mn-ea"/>
          <a:cs typeface="+mn-cs"/>
        </a:defRPr>
      </a:lvl3pPr>
      <a:lvl4pPr eaLnBrk="1" hangingPunct="1" marL="1371600">
        <a:defRPr>
          <a:latin typeface="+mn-lt"/>
          <a:ea typeface="+mn-ea"/>
          <a:cs typeface="+mn-cs"/>
        </a:defRPr>
      </a:lvl4pPr>
      <a:lvl5pPr eaLnBrk="1" hangingPunct="1" marL="1828800">
        <a:defRPr>
          <a:latin typeface="+mn-lt"/>
          <a:ea typeface="+mn-ea"/>
          <a:cs typeface="+mn-cs"/>
        </a:defRPr>
      </a:lvl5pPr>
      <a:lvl6pPr eaLnBrk="1" hangingPunct="1" marL="2286000">
        <a:defRPr>
          <a:latin typeface="+mn-lt"/>
          <a:ea typeface="+mn-ea"/>
          <a:cs typeface="+mn-cs"/>
        </a:defRPr>
      </a:lvl6pPr>
      <a:lvl7pPr eaLnBrk="1" hangingPunct="1" marL="2743200">
        <a:defRPr>
          <a:latin typeface="+mn-lt"/>
          <a:ea typeface="+mn-ea"/>
          <a:cs typeface="+mn-cs"/>
        </a:defRPr>
      </a:lvl7pPr>
      <a:lvl8pPr eaLnBrk="1" hangingPunct="1" marL="3200400">
        <a:defRPr>
          <a:latin typeface="+mn-lt"/>
          <a:ea typeface="+mn-ea"/>
          <a:cs typeface="+mn-cs"/>
        </a:defRPr>
      </a:lvl8pPr>
      <a:lvl9pPr eaLnBrk="1" hangingPunct="1" marL="3657600">
        <a:defRPr>
          <a:latin typeface="+mn-lt"/>
          <a:ea typeface="+mn-ea"/>
          <a:cs typeface="+mn-cs"/>
        </a:defRPr>
      </a:lvl9pPr>
    </p:bodyStyle>
    <p:otherStyle>
      <a:lvl1pPr eaLnBrk="1" hangingPunct="1" marL="0">
        <a:defRPr>
          <a:latin typeface="+mn-lt"/>
          <a:ea typeface="+mn-ea"/>
          <a:cs typeface="+mn-cs"/>
        </a:defRPr>
      </a:lvl1pPr>
      <a:lvl2pPr eaLnBrk="1" hangingPunct="1" marL="457200">
        <a:defRPr>
          <a:latin typeface="+mn-lt"/>
          <a:ea typeface="+mn-ea"/>
          <a:cs typeface="+mn-cs"/>
        </a:defRPr>
      </a:lvl2pPr>
      <a:lvl3pPr eaLnBrk="1" hangingPunct="1" marL="914400">
        <a:defRPr>
          <a:latin typeface="+mn-lt"/>
          <a:ea typeface="+mn-ea"/>
          <a:cs typeface="+mn-cs"/>
        </a:defRPr>
      </a:lvl3pPr>
      <a:lvl4pPr eaLnBrk="1" hangingPunct="1" marL="1371600">
        <a:defRPr>
          <a:latin typeface="+mn-lt"/>
          <a:ea typeface="+mn-ea"/>
          <a:cs typeface="+mn-cs"/>
        </a:defRPr>
      </a:lvl4pPr>
      <a:lvl5pPr eaLnBrk="1" hangingPunct="1" marL="1828800">
        <a:defRPr>
          <a:latin typeface="+mn-lt"/>
          <a:ea typeface="+mn-ea"/>
          <a:cs typeface="+mn-cs"/>
        </a:defRPr>
      </a:lvl5pPr>
      <a:lvl6pPr eaLnBrk="1" hangingPunct="1" marL="2286000">
        <a:defRPr>
          <a:latin typeface="+mn-lt"/>
          <a:ea typeface="+mn-ea"/>
          <a:cs typeface="+mn-cs"/>
        </a:defRPr>
      </a:lvl6pPr>
      <a:lvl7pPr eaLnBrk="1" hangingPunct="1" marL="2743200">
        <a:defRPr>
          <a:latin typeface="+mn-lt"/>
          <a:ea typeface="+mn-ea"/>
          <a:cs typeface="+mn-cs"/>
        </a:defRPr>
      </a:lvl7pPr>
      <a:lvl8pPr eaLnBrk="1" hangingPunct="1" marL="3200400">
        <a:defRPr>
          <a:latin typeface="+mn-lt"/>
          <a:ea typeface="+mn-ea"/>
          <a:cs typeface="+mn-cs"/>
        </a:defRPr>
      </a:lvl8pPr>
      <a:lvl9pPr eaLnBrk="1" hangingPunct="1"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Avalia+Tec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Pitch Deck para submissão na Fase 1 de Ideias Inovadoras do Programa Centelha 3 Bahia</a:t>
            </a:r>
            <a:br/>
            <a:br/>
            <a:r>
              <a:rPr/>
              <a:t>Diego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g/logo_avalia_horizon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92800" y="5105400"/>
            <a:ext cx="977900" cy="26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Plataforma SaaS para </a:t>
            </a:r>
            <a:r>
              <a:rPr b="1"/>
              <a:t>inscrição</a:t>
            </a:r>
            <a:r>
              <a:rPr/>
              <a:t>, </a:t>
            </a:r>
            <a:r>
              <a:rPr b="1"/>
              <a:t>avaliação por banca</a:t>
            </a:r>
            <a:r>
              <a:rPr/>
              <a:t> e </a:t>
            </a:r>
            <a:r>
              <a:rPr b="1"/>
              <a:t>consolidação de resultados</a:t>
            </a:r>
            <a:r>
              <a:rPr/>
              <a:t>.</a:t>
            </a:r>
          </a:p>
          <a:p>
            <a:pPr lvl="0"/>
            <a:r>
              <a:rPr/>
              <a:t>Resultados com </a:t>
            </a:r>
            <a:r>
              <a:rPr b="1"/>
              <a:t>evidências verificáveis</a:t>
            </a:r>
            <a:r>
              <a:rPr/>
              <a:t> (protocolo + hash)</a:t>
            </a:r>
          </a:p>
          <a:p>
            <a:pPr lvl="0"/>
            <a:r>
              <a:rPr b="1"/>
              <a:t>Menos retrabalho</a:t>
            </a:r>
            <a:r>
              <a:rPr/>
              <a:t> e risco operacional</a:t>
            </a:r>
          </a:p>
          <a:p>
            <a:pPr lvl="0"/>
            <a:r>
              <a:rPr b="1"/>
              <a:t>Privacidade/LGPD</a:t>
            </a:r>
            <a:r>
              <a:rPr/>
              <a:t> como requisito do processo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Processo disperso (planilhas, e-mail, versões)</a:t>
            </a:r>
          </a:p>
          <a:p>
            <a:pPr lvl="0"/>
            <a:r>
              <a:rPr/>
              <a:t>Erros de consolidação e disputa por “qual arquivo vale”</a:t>
            </a:r>
          </a:p>
          <a:p>
            <a:pPr lvl="0"/>
            <a:r>
              <a:rPr/>
              <a:t>Auditoria e resposta a recursos ficam difíceis</a:t>
            </a:r>
          </a:p>
          <a:p>
            <a:pPr lvl="0"/>
            <a:r>
              <a:rPr/>
              <a:t>Maior exposição de dados pessoais (risco LGPD)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Fluxo único: inscrição → avaliação → consolidação → ranking → comunicação</a:t>
            </a:r>
          </a:p>
          <a:p>
            <a:pPr lvl="0"/>
            <a:r>
              <a:rPr/>
              <a:t>Avaliação multicritério por múltiplos avaliadores + comissão</a:t>
            </a:r>
          </a:p>
          <a:p>
            <a:pPr lvl="0"/>
            <a:r>
              <a:rPr/>
              <a:t>Transparência para o candidato e governança para a organização</a:t>
            </a:r>
          </a:p>
          <a:p>
            <a:pPr lvl="0"/>
            <a:r>
              <a:rPr/>
              <a:t>Privacidade por padrão e menos risco de conformidade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Evidência de integridade verificável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PDF de protocolo com </a:t>
            </a:r>
            <a:r>
              <a:rPr b="1"/>
              <a:t>hash SHA-256 verificável</a:t>
            </a:r>
            <a:r>
              <a:rPr/>
              <a:t>.</a:t>
            </a:r>
          </a:p>
          <a:p>
            <a:pPr lvl="0"/>
            <a:r>
              <a:rPr/>
              <a:t>Reduz disputa por versões</a:t>
            </a:r>
          </a:p>
          <a:p>
            <a:pPr lvl="0"/>
            <a:r>
              <a:rPr/>
              <a:t>Comprova o que foi submetido</a:t>
            </a:r>
          </a:p>
        </p:txBody>
      </p:sp>
      <p:pic>
        <p:nvPicPr>
          <p:cNvPr descr="../prints/manual/fig-17-pdf-protocolo-has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08100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Privacidade e minimização de 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Bloqueio de duplicidade por CPF via </a:t>
            </a:r>
            <a:r>
              <a:rPr b="1"/>
              <a:t>HMAC</a:t>
            </a:r>
            <a:r>
              <a:rPr/>
              <a:t> (sem CPF em claro)</a:t>
            </a:r>
          </a:p>
          <a:p>
            <a:pPr lvl="0"/>
            <a:r>
              <a:rPr b="1"/>
              <a:t>Blind review</a:t>
            </a:r>
            <a:r>
              <a:rPr/>
              <a:t> reduz exposição de dados identificadores</a:t>
            </a:r>
          </a:p>
        </p:txBody>
      </p:sp>
      <p:pic>
        <p:nvPicPr>
          <p:cNvPr descr="../prints/manual/fig-11-blind-review-alerta-dados-pessoa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405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Produto e viabilidade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Núcleo funcional em </a:t>
            </a:r>
            <a:r>
              <a:rPr b="1"/>
              <a:t>Node.js (Express)</a:t>
            </a:r>
            <a:r>
              <a:rPr/>
              <a:t> + frontend</a:t>
            </a:r>
          </a:p>
          <a:p>
            <a:pPr lvl="0"/>
            <a:r>
              <a:rPr/>
              <a:t>Inscrição, avaliação e recursos já operacionais</a:t>
            </a:r>
          </a:p>
          <a:p>
            <a:pPr lvl="0"/>
            <a:r>
              <a:rPr/>
              <a:t>PDF (protocolo + hash), e-mails transacionais e exportação CSV</a:t>
            </a:r>
          </a:p>
          <a:p>
            <a:pPr lvl="0"/>
            <a:r>
              <a:rPr/>
              <a:t>Storage em JSON (com opção de </a:t>
            </a:r>
            <a:r>
              <a:rPr b="1"/>
              <a:t>PostgreSQL</a:t>
            </a:r>
            <a:r>
              <a:rPr/>
              <a:t> por configuração)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Painel administrativo e rastreabilidade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Acompanha inscrições, avaliações e resultados</a:t>
            </a:r>
          </a:p>
          <a:p>
            <a:pPr lvl="0"/>
            <a:r>
              <a:rPr/>
              <a:t>Trilha auditável: logs estruturados + ID de requisição + histórico</a:t>
            </a:r>
          </a:p>
          <a:p>
            <a:pPr lvl="0"/>
            <a:r>
              <a:rPr/>
              <a:t>Calendário por edital e bloqueio fora de janela</a:t>
            </a:r>
          </a:p>
        </p:txBody>
      </p:sp>
      <p:pic>
        <p:nvPicPr>
          <p:cNvPr descr="../prints/manual/fig-24-admin-dashboard-tabela-protocol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19200"/>
            <a:ext cx="5105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Mercado e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Universidades, IFs, fundações, incubadoras e programas de inovação</a:t>
            </a:r>
          </a:p>
          <a:p>
            <a:pPr lvl="0"/>
            <a:r>
              <a:rPr/>
              <a:t>Órgãos públicos com chamadas/seleções e necessidade de prestação de contas</a:t>
            </a:r>
          </a:p>
          <a:p>
            <a:pPr lvl="0"/>
            <a:r>
              <a:rPr/>
              <a:t>Dor recorrente: equipe enxuta + exigência de rastreabilidade e conformidade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Assinatura SaaS </a:t>
            </a:r>
            <a:r>
              <a:rPr b="1"/>
              <a:t>por edital (ciclo)</a:t>
            </a:r>
            <a:r>
              <a:rPr/>
              <a:t> ou </a:t>
            </a:r>
            <a:r>
              <a:rPr b="1"/>
              <a:t>anual</a:t>
            </a:r>
            <a:r>
              <a:rPr/>
              <a:t> (múltiplas seleções)</a:t>
            </a:r>
          </a:p>
          <a:p>
            <a:pPr lvl="0"/>
            <a:r>
              <a:rPr/>
              <a:t>Varia por volume de inscrições e nº de avaliadores</a:t>
            </a:r>
          </a:p>
          <a:p>
            <a:pPr lvl="0"/>
            <a:r>
              <a:rPr/>
              <a:t>Implantação: configuração + orientação + suporte durante o ciclo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com recursos do Centelha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Configuração completa por edital (critérios, pesos, escalas, rubricas por fase)</a:t>
            </a:r>
          </a:p>
          <a:p>
            <a:pPr lvl="0"/>
            <a:r>
              <a:rPr/>
              <a:t>Multicliente e isolamento por organização (replicável)</a:t>
            </a:r>
          </a:p>
          <a:p>
            <a:pPr lvl="0"/>
            <a:r>
              <a:rPr/>
              <a:t>Consolidação em PostgreSQL quando aplicável + segurança em repouso</a:t>
            </a:r>
          </a:p>
          <a:p>
            <a:pPr lvl="0"/>
            <a:r>
              <a:rPr/>
              <a:t>Relatórios e reforço da trilha auditável (padrão de eventos)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e governança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Diego</a:t>
            </a:r>
            <a:r>
              <a:rPr/>
              <a:t>: produto, validação com usuários, implantação e pilotos</a:t>
            </a:r>
          </a:p>
          <a:p>
            <a:pPr lvl="0"/>
            <a:r>
              <a:rPr b="1"/>
              <a:t>Catuxe Varjão de Santana Oliveira</a:t>
            </a:r>
            <a:r>
              <a:rPr/>
              <a:t>: engenharia, qualidade (MPS.BR) e controles (HMAC)</a:t>
            </a:r>
          </a:p>
          <a:p>
            <a:pPr lvl="0"/>
            <a:r>
              <a:rPr b="1"/>
              <a:t>Dulce Paloma Vidal</a:t>
            </a:r>
            <a:r>
              <a:rPr/>
              <a:t>: jurídico/compliance, LGPD e aderência legal do processo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Menos retrabalho e erros de consolidação</a:t>
            </a:r>
          </a:p>
          <a:p>
            <a:pPr lvl="0"/>
            <a:r>
              <a:rPr/>
              <a:t>Menos reenvios, papel e deslocamentos</a:t>
            </a:r>
          </a:p>
          <a:p>
            <a:pPr lvl="0"/>
            <a:r>
              <a:rPr/>
              <a:t>Menor exposição de dados pessoais (HMAC + blind review)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Centelha: transformar o núcleo funcional em produto </a:t>
            </a:r>
            <a:r>
              <a:rPr b="1"/>
              <a:t>replicável e escalável</a:t>
            </a:r>
            <a:r>
              <a:rPr/>
              <a:t>.</a:t>
            </a:r>
          </a:p>
          <a:p>
            <a:pPr lvl="0"/>
            <a:r>
              <a:rPr/>
              <a:t>Configuração por edital, relatórios e melhor UX</a:t>
            </a:r>
          </a:p>
          <a:p>
            <a:pPr lvl="0"/>
            <a:r>
              <a:rPr/>
              <a:t>Controles e evidências auditáveis com foco em integridade e conformidade</a:t>
            </a:r>
          </a:p>
        </p:txBody>
      </p:sp>
    </p:spTree>
  </p:cSld>
</p:sld>
</file>

<file path=ppt/theme/theme1.xml><?xml version="1.0" encoding="utf-8"?>
<a:theme xmlns:a="http://schemas.openxmlformats.org/drawingml/2006/main" name="Template">
  <a:themeElements>
    <a:clrScheme name="Laranja Amare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ersonalizada 5">
      <a:majorFont>
        <a:latin typeface="Bahnschrift"/>
        <a:ea typeface=""/>
        <a:cs typeface=""/>
      </a:majorFont>
      <a:minorFont>
        <a:latin typeface="Bahnschrift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7255C85-0B80-4E60-9D05-5F61BE6F5B0D}" vid="{6CC80195-0220-4972-A526-2B1ECEC5E5B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1590</TotalTime>
  <Words>2577</Words>
  <Application>Microsoft Office PowerPoint</Application>
  <PresentationFormat>Widescreen</PresentationFormat>
  <Paragraphs>355</Paragraphs>
  <Slides>21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Bahnschrift</vt:lpstr>
      <vt:lpstr>Bahnschrift SemiBold</vt:lpstr>
      <vt:lpstr>Calibri</vt:lpstr>
      <vt:lpstr>Tw Cen MT Condensed</vt:lpstr>
      <vt:lpstr>Template</vt:lpstr>
      <vt:lpstr>Tema 5</vt:lpstr>
      <vt:lpstr>📋 Agenda da Aula</vt:lpstr>
      <vt:lpstr>Evolução da Gestão da Inovação Tecnológica (GIT)</vt:lpstr>
      <vt:lpstr>🚪 Modelo Stage-Gate (Cooper, 1990/2008)</vt:lpstr>
      <vt:lpstr>🛡️ Decisões de PI no Stage-Gate</vt:lpstr>
      <vt:lpstr>🛡️ Decisões de PI: Gate 2 - Viabilidade</vt:lpstr>
      <vt:lpstr>🛡️ Decisões de PI: Gates 3, 4 e 5</vt:lpstr>
      <vt:lpstr>📊 Escala TRL (Technology Readiness Levels)</vt:lpstr>
      <vt:lpstr>🧠 Capacidade Absortiva</vt:lpstr>
      <vt:lpstr>🧠 Capacidades Dinâmicas</vt:lpstr>
      <vt:lpstr>🧠 Ambidestria Organizacional</vt:lpstr>
      <vt:lpstr>Capacidade Absortiva: Natureza Path-Dependent</vt:lpstr>
      <vt:lpstr>Ferramentas Analíticas de PI</vt:lpstr>
      <vt:lpstr>Indicadores de Performance de PI</vt:lpstr>
      <vt:lpstr>Marco Regulatório Brasileiro de PI</vt:lpstr>
      <vt:lpstr>🔗 Integração Stage-Gate + TRL + PI</vt:lpstr>
      <vt:lpstr>🎯 Caso Aplicado: Universidade Federal de Sergipe</vt:lpstr>
      <vt:lpstr>🎓 Síntese Conceitual</vt:lpstr>
      <vt:lpstr> 1. Como equilibrar o imperativo de publicação acadêmica (avaliação docente) com a necessidade de proteção de PI antes da divulgação? 2. Quais critérios devem orientar a decisão entre licenciamento, spin-off ou exploração direta de uma tecnologia universitária? 3. De que forma NITs de universidades pequenas podem superar limitações de capacidade técnica e orçamentária? 4. Como integrar políticas de inovação aberta (fluxos externos) com proteção de PI (barreiras de exclusão)?</vt:lpstr>
      <vt:lpstr> CHESBROUGH, H. (2003). Open Innovation: The New Imperative for Creating and Profiting from Technology. Harvard Business School Press. COHEN, W.; LEVINTHAL, D. (1990). Absorptive Capacity: A New Perspective on Learning and Innovation. Administrative Science Quarterly, 35(1), 128-152. COOPER, R. (1990). Stage-Gate Systems: A New Tool for Managing New Products. Business Horizons, 33(3), 44-54. COOPER, R. (2008). Perspective: The Stage-Gate Idea-to-Launch Process—Update, What's New, and NexGen Systems. Journal of Product Innovation Management, 25(3), 213-232. KLINE, S.; ROSENBERG, N. (1986). An Overview of Innovation. In: LANDAU, R.; ROSENBERG, N. (Eds.). The Positive Sum Strategy. National Academy Press. MANKINS, J. (1995). Technology Readiness Levels: A White Paper. NASA. TEECE, D. (1986). Profiting from Technological Innovation. Research Policy, 15(6), 285-305. TEECE, D. (2007). Explicating Dynamic Capabilities. Strategic Management Journal, 28(13), 1319-1350.</vt:lpstr>
      <vt:lpstr> 📧 email@ufs.br 🔗 lattes.cnpq.br/[seu-lattes] Concurso Público - Gestão da Inovação Tecnológica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Avalia+Tec</dc:title>
  <dc:creator>Diego</dc:creator>
  <cp:keywords/>
  <dcterms:created xsi:type="dcterms:W3CDTF">2026-01-05T19:25:09Z</dcterms:created>
  <dcterms:modified xsi:type="dcterms:W3CDTF">2026-01-05T19:25:09Z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2026-01-05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Pitch Deck para submissão na Fase 1 de Ideias Inovadoras do Programa Centelha 3 Bahia</vt:lpwstr>
  </property>
  <property fmtid="{D5CDD505-2E9C-101B-9397-08002B2CF9AE}" pid="12" name="toc-title">
    <vt:lpwstr>Índice</vt:lpwstr>
  </property>
</Properties>
</file>