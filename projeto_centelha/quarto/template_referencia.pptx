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7" r:id="rId1"/>
  </p:sldMasterIdLst>
  <p:notesMasterIdLst>
    <p:notesMasterId r:id="rId23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3B1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692355-3A66-4D2A-AA7E-31FD26729007}" v="2" dt="2025-10-28T13:33:27.705"/>
    <p1510:client id="{5FDFCC3A-B217-48F7-96F1-6D472DA1F317}" v="10" dt="2025-10-28T16:10:43.416"/>
    <p1510:client id="{81EF486F-6B15-4C53-BEA9-9FF48ED6610F}" v="60" dt="2025-10-28T14:42:31.437"/>
    <p1510:client id="{8F067A1F-31C9-4A1E-864F-0C84DF820DED}" v="10" dt="2025-10-28T20:21:58.510"/>
    <p1510:client id="{A1AFDAE7-D114-44D0-836E-707848755E44}" v="4" dt="2025-10-28T20:19:12.65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7237" autoAdjust="0"/>
    <p:restoredTop sz="94669"/>
  </p:normalViewPr>
  <p:slideViewPr>
    <p:cSldViewPr>
      <p:cViewPr varScale="1">
        <p:scale>
          <a:sx n="111" d="100"/>
          <a:sy n="111" d="100"/>
        </p:scale>
        <p:origin x="1764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microsoft.com/office/2016/11/relationships/changesInfo" Target="changesInfos/changesInfo1.xml"/><Relationship Id="rId2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go Vidal Santos" userId="328c329cf2f6e6d0" providerId="LiveId" clId="{8D3035BE-063B-4D63-9011-7A8DC5AC750E}"/>
    <pc:docChg chg="undo custSel modSld modMainMaster">
      <pc:chgData name="Diego Vidal Santos" userId="328c329cf2f6e6d0" providerId="LiveId" clId="{8D3035BE-063B-4D63-9011-7A8DC5AC750E}" dt="2025-10-28T20:22:08.259" v="169" actId="167"/>
      <pc:docMkLst>
        <pc:docMk/>
      </pc:docMkLst>
      <pc:sldChg chg="modSp mod">
        <pc:chgData name="Diego Vidal Santos" userId="328c329cf2f6e6d0" providerId="LiveId" clId="{8D3035BE-063B-4D63-9011-7A8DC5AC750E}" dt="2025-10-28T20:11:37.299" v="153" actId="1076"/>
        <pc:sldMkLst>
          <pc:docMk/>
          <pc:sldMk cId="0" sldId="256"/>
        </pc:sldMkLst>
        <pc:spChg chg="mod">
          <ac:chgData name="Diego Vidal Santos" userId="328c329cf2f6e6d0" providerId="LiveId" clId="{8D3035BE-063B-4D63-9011-7A8DC5AC750E}" dt="2025-10-28T20:11:37.299" v="153" actId="1076"/>
          <ac:spMkLst>
            <pc:docMk/>
            <pc:sldMk cId="0" sldId="256"/>
            <ac:spMk id="2" creationId="{00000000-0000-0000-0000-000000000000}"/>
          </ac:spMkLst>
        </pc:spChg>
      </pc:sldChg>
      <pc:sldMasterChg chg="addSp delSp modSp mod modSldLayout">
        <pc:chgData name="Diego Vidal Santos" userId="328c329cf2f6e6d0" providerId="LiveId" clId="{8D3035BE-063B-4D63-9011-7A8DC5AC750E}" dt="2025-10-28T20:22:08.259" v="169" actId="167"/>
        <pc:sldMasterMkLst>
          <pc:docMk/>
          <pc:sldMasterMk cId="3359176614" sldId="2147483667"/>
        </pc:sldMasterMkLst>
        <pc:spChg chg="del">
          <ac:chgData name="Diego Vidal Santos" userId="328c329cf2f6e6d0" providerId="LiveId" clId="{8D3035BE-063B-4D63-9011-7A8DC5AC750E}" dt="2025-10-28T16:20:00.580" v="7" actId="478"/>
          <ac:spMkLst>
            <pc:docMk/>
            <pc:sldMasterMk cId="3359176614" sldId="2147483667"/>
            <ac:spMk id="2" creationId="{00000000-0000-0000-0000-000000000000}"/>
          </ac:spMkLst>
        </pc:spChg>
        <pc:spChg chg="add mod">
          <ac:chgData name="Diego Vidal Santos" userId="328c329cf2f6e6d0" providerId="LiveId" clId="{8D3035BE-063B-4D63-9011-7A8DC5AC750E}" dt="2025-10-28T16:19:53.606" v="5"/>
          <ac:spMkLst>
            <pc:docMk/>
            <pc:sldMasterMk cId="3359176614" sldId="2147483667"/>
            <ac:spMk id="7" creationId="{A29D46AD-2CB2-0AA8-F4E2-3187D00794A7}"/>
          </ac:spMkLst>
        </pc:spChg>
        <pc:spChg chg="add del mod">
          <ac:chgData name="Diego Vidal Santos" userId="328c329cf2f6e6d0" providerId="LiveId" clId="{8D3035BE-063B-4D63-9011-7A8DC5AC750E}" dt="2025-10-28T16:20:32.870" v="16"/>
          <ac:spMkLst>
            <pc:docMk/>
            <pc:sldMasterMk cId="3359176614" sldId="2147483667"/>
            <ac:spMk id="9" creationId="{050A41EB-52D8-06C7-EB4E-0D80F2F2B7E0}"/>
          </ac:spMkLst>
        </pc:spChg>
        <pc:sldLayoutChg chg="addSp delSp modSp mod">
          <pc:chgData name="Diego Vidal Santos" userId="328c329cf2f6e6d0" providerId="LiveId" clId="{8D3035BE-063B-4D63-9011-7A8DC5AC750E}" dt="2025-10-28T20:22:08.259" v="169" actId="167"/>
          <pc:sldLayoutMkLst>
            <pc:docMk/>
            <pc:sldMasterMk cId="3359176614" sldId="2147483667"/>
            <pc:sldLayoutMk cId="2925160060" sldId="2147483668"/>
          </pc:sldLayoutMkLst>
          <pc:spChg chg="add del mod">
            <ac:chgData name="Diego Vidal Santos" userId="328c329cf2f6e6d0" providerId="LiveId" clId="{8D3035BE-063B-4D63-9011-7A8DC5AC750E}" dt="2025-10-28T20:19:12.656" v="162" actId="255"/>
            <ac:spMkLst>
              <pc:docMk/>
              <pc:sldMasterMk cId="3359176614" sldId="2147483667"/>
              <pc:sldLayoutMk cId="2925160060" sldId="2147483668"/>
              <ac:spMk id="2" creationId="{00000000-0000-0000-0000-000000000000}"/>
            </ac:spMkLst>
          </pc:spChg>
          <pc:spChg chg="mod">
            <ac:chgData name="Diego Vidal Santos" userId="328c329cf2f6e6d0" providerId="LiveId" clId="{8D3035BE-063B-4D63-9011-7A8DC5AC750E}" dt="2025-10-28T20:19:09.258" v="161" actId="113"/>
            <ac:spMkLst>
              <pc:docMk/>
              <pc:sldMasterMk cId="3359176614" sldId="2147483667"/>
              <pc:sldLayoutMk cId="2925160060" sldId="2147483668"/>
              <ac:spMk id="3" creationId="{00000000-0000-0000-0000-000000000000}"/>
            </ac:spMkLst>
          </pc:spChg>
          <pc:spChg chg="add mod">
            <ac:chgData name="Diego Vidal Santos" userId="328c329cf2f6e6d0" providerId="LiveId" clId="{8D3035BE-063B-4D63-9011-7A8DC5AC750E}" dt="2025-10-28T20:10:38.240" v="110" actId="20577"/>
            <ac:spMkLst>
              <pc:docMk/>
              <pc:sldMasterMk cId="3359176614" sldId="2147483667"/>
              <pc:sldLayoutMk cId="2925160060" sldId="2147483668"/>
              <ac:spMk id="7" creationId="{A5BD5008-DA0E-F6E0-D4C3-44ED92F6A3C3}"/>
            </ac:spMkLst>
          </pc:spChg>
          <pc:spChg chg="add mod">
            <ac:chgData name="Diego Vidal Santos" userId="328c329cf2f6e6d0" providerId="LiveId" clId="{8D3035BE-063B-4D63-9011-7A8DC5AC750E}" dt="2025-10-28T16:19:40.596" v="3"/>
            <ac:spMkLst>
              <pc:docMk/>
              <pc:sldMasterMk cId="3359176614" sldId="2147483667"/>
              <pc:sldLayoutMk cId="2925160060" sldId="2147483668"/>
              <ac:spMk id="7" creationId="{B1B67B45-B9A1-EF72-6E65-8896562AB6A9}"/>
            </ac:spMkLst>
          </pc:spChg>
          <pc:spChg chg="add mod">
            <ac:chgData name="Diego Vidal Santos" userId="328c329cf2f6e6d0" providerId="LiveId" clId="{8D3035BE-063B-4D63-9011-7A8DC5AC750E}" dt="2025-10-28T20:19:16.631" v="163" actId="1076"/>
            <ac:spMkLst>
              <pc:docMk/>
              <pc:sldMasterMk cId="3359176614" sldId="2147483667"/>
              <pc:sldLayoutMk cId="2925160060" sldId="2147483668"/>
              <ac:spMk id="8" creationId="{492169DA-FF0B-4D55-0D25-67CC91B0C462}"/>
            </ac:spMkLst>
          </pc:spChg>
          <pc:picChg chg="add mod ord">
            <ac:chgData name="Diego Vidal Santos" userId="328c329cf2f6e6d0" providerId="LiveId" clId="{8D3035BE-063B-4D63-9011-7A8DC5AC750E}" dt="2025-10-28T20:22:08.259" v="169" actId="167"/>
            <ac:picMkLst>
              <pc:docMk/>
              <pc:sldMasterMk cId="3359176614" sldId="2147483667"/>
              <pc:sldLayoutMk cId="2925160060" sldId="2147483668"/>
              <ac:picMk id="10" creationId="{A8AFDC8E-EC67-2D58-DCE6-860ABB71D90A}"/>
            </ac:picMkLst>
          </pc:pic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939D32-4D7A-C849-931F-0023472BA975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1B6F9E-5F11-604A-8433-C012402DF9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462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Iniciar com provocação para engajar banca</a:t>
            </a:r>
          </a:p>
          <a:p>
            <a:r>
              <a:t>- Mencionar Clayton Christensen e "dilema da inovação"</a:t>
            </a:r>
          </a:p>
          <a:p>
            <a:r>
              <a:t>- Preparar para introduzir necessidade de gestão estruturada</a:t>
            </a:r>
          </a:p>
          <a:p>
            <a:r>
              <a:t>- Timing: 2 minutos</a:t>
            </a:r>
          </a:p>
          <a:p>
            <a:r>
              <a:t>- Transição: "Para entender essa estatística alarmante, precisamos compreender..."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Enfatizar transição de controle interno para colaboração externa</a:t>
            </a:r>
          </a:p>
          <a:p>
            <a:r>
              <a:t>- Citar Freeman (1987), Lundvall (1992) na evolução</a:t>
            </a:r>
          </a:p>
          <a:p>
            <a:r>
              <a:t>- Destacar que modelos coexistem em diferentes setores</a:t>
            </a:r>
          </a:p>
          <a:p>
            <a:r>
              <a:t>- Exemplo Brasil: Setor farmacêutico ainda muito linear</a:t>
            </a:r>
          </a:p>
          <a:p>
            <a:r>
              <a:t>- Timing: 4 minutos</a:t>
            </a:r>
          </a:p>
          <a:p>
            <a:r>
              <a:t>- Possível pergunta da banca: "Como o Brasil se posiciona nessa evolução?"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Henry Chesbrough, "Open Innovation" (2003) - obra seminal</a:t>
            </a:r>
          </a:p>
          <a:p>
            <a:r>
              <a:t>- Dados: Empresas open innovation têm 30% mais produtividade (OECD, 2021)</a:t>
            </a:r>
          </a:p>
          <a:p>
            <a:r>
              <a:t>- Exemplo brasileiro: Embraer e P&amp;D distribuído globalmente</a:t>
            </a:r>
          </a:p>
          <a:p>
            <a:r>
              <a:t>- Riscos: Vazamento de conhecimento, custos de coordenação</a:t>
            </a:r>
          </a:p>
          <a:p>
            <a:r>
              <a:t>- Timing: 4 minutos</a:t>
            </a:r>
          </a:p>
          <a:p>
            <a:r>
              <a:t>- Transição: "Mas como as organizações absorvem conhecimento externo?"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Paper clássico de Administrative Science Quarterly (1990)</a:t>
            </a:r>
          </a:p>
          <a:p>
            <a:r>
              <a:t>- Paradoxo: precisa conhecimento interno para absorver externo</a:t>
            </a:r>
          </a:p>
          <a:p>
            <a:r>
              <a:t>- UFS: 82% docentes doutores (2024), acima média nacional 76%</a:t>
            </a:r>
          </a:p>
          <a:p>
            <a:r>
              <a:t>- Agitte.se: 27 patentes depositadas desde 2017</a:t>
            </a:r>
          </a:p>
          <a:p>
            <a:r>
              <a:t>- Timing: 5 minutos</a:t>
            </a:r>
          </a:p>
          <a:p>
            <a:r>
              <a:t>- Possível pergunta: "Como NITs fortalecem capacidade absortiva?"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Etzkowitz &amp; Leydesdorff (2000) - Science and Public Policy</a:t>
            </a:r>
          </a:p>
          <a:p>
            <a:r>
              <a:t>- Evolução: Tríplice → Quádrupla (sociedade) → Quíntupla (meio ambiente)</a:t>
            </a:r>
          </a:p>
          <a:p>
            <a:r>
              <a:t>- Contexto brasileiro: fragmentação do sistema</a:t>
            </a:r>
          </a:p>
          <a:p>
            <a:r>
              <a:t>- Sergipe: FAPITEC-SE como articulador estadual</a:t>
            </a:r>
          </a:p>
          <a:p>
            <a:r>
              <a:t>- Dados: Brasil investe 1,16% PIB em P&amp;D vs. 2,4% OCDE (2023)</a:t>
            </a:r>
          </a:p>
          <a:p>
            <a:r>
              <a:t>- Timing: 5 minutos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Marco Legal: evolução de 20 anos (2004-2024)</a:t>
            </a:r>
          </a:p>
          <a:p>
            <a:r>
              <a:t>- UFS: NIT criado em 2006, Agitte.se reestruturado 2017</a:t>
            </a:r>
          </a:p>
          <a:p>
            <a:r>
              <a:t>- Desafios: cultura de inovação, conflito interesse público-privado</a:t>
            </a:r>
          </a:p>
          <a:p>
            <a:r>
              <a:t>- Exemplo prático: Licenciamento tecnologia PPGEC (Engenharia Civil)</a:t>
            </a:r>
          </a:p>
          <a:p>
            <a:r>
              <a:t>- Timing: 5 minutos</a:t>
            </a:r>
          </a:p>
          <a:p>
            <a:r>
              <a:t>- Possível pergunta: "Quais os gargalos do Marco Legal?"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Sergipe: 1.900 empresas inovadoras (PINTEC 2020)</a:t>
            </a:r>
          </a:p>
          <a:p>
            <a:r>
              <a:t>- CISE (Centro de Inovação): 23 startups incubadas</a:t>
            </a:r>
          </a:p>
          <a:p>
            <a:r>
              <a:t>- FAPITEC-SE: R$ 45 milhões em CT&amp;I (2020-2024)</a:t>
            </a:r>
          </a:p>
          <a:p>
            <a:r>
              <a:t>- Desafio: diversificação econômica além óleo/gás</a:t>
            </a:r>
          </a:p>
          <a:p>
            <a:r>
              <a:t>- Oportunidade: Polo de tecnologias limpas (energia eólica/solar)</a:t>
            </a:r>
          </a:p>
          <a:p>
            <a:r>
              <a:t>- Timing: 4 minutos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Dados: MCTI (2023), INPI (2024), ANPEI (2024)</a:t>
            </a:r>
          </a:p>
          <a:p>
            <a:r>
              <a:t>- Comparação internacional: Coreia do Sul 4,8% PIB, Israel 5,6%</a:t>
            </a:r>
          </a:p>
          <a:p>
            <a:r>
              <a:t>- Nordeste: potencial subexplorado, apenas 12% patentes nacionais</a:t>
            </a:r>
          </a:p>
          <a:p>
            <a:r>
              <a:t>- Sergipe: economia do conhecimento = diversificação necessária</a:t>
            </a:r>
          </a:p>
          <a:p>
            <a:r>
              <a:t>- Timing: 4 minutos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IA: IBM Watson Discovery for Patents, Patsnap</a:t>
            </a:r>
          </a:p>
          <a:p>
            <a:r>
              <a:t>- Sustentabilidade: ODS da ONU como drivers de inovação</a:t>
            </a:r>
          </a:p>
          <a:p>
            <a:r>
              <a:t>- Blockchain: rastreabilidade PI, contratos inteligentes</a:t>
            </a:r>
          </a:p>
          <a:p>
            <a:r>
              <a:t>- UFS: potencial em energias renováveis (solar/eólica SE)</a:t>
            </a:r>
          </a:p>
          <a:p>
            <a:r>
              <a:t>- Timing: 3 minutos</a:t>
            </a:r>
          </a:p>
          <a:p>
            <a:r>
              <a:t>- Preparar para conclusão integradora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Reforçar conectividade entre conceitos apresentados</a:t>
            </a:r>
          </a:p>
          <a:p>
            <a:r>
              <a:t>- Não são ilhas isoladas, mas sistema integrado</a:t>
            </a:r>
          </a:p>
          <a:p>
            <a:r>
              <a:t>- Papel do docente: formar gestores com visão sistêmica</a:t>
            </a:r>
          </a:p>
          <a:p>
            <a:r>
              <a:t>- Timing: 3 minutos</a:t>
            </a:r>
          </a:p>
          <a:p>
            <a:r>
              <a:t>- Preparar para abertura de perguntas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Deixar 3-5 minutos para discussão</a:t>
            </a:r>
          </a:p>
          <a:p>
            <a:r>
              <a:t>- Preparar respostas fundamentadas para cada questão</a:t>
            </a:r>
          </a:p>
          <a:p>
            <a:r>
              <a:t>- Demonstrar abertura para debate e pensamento crítico</a:t>
            </a:r>
          </a:p>
          <a:p>
            <a:r>
              <a:t>- Timing: variável (3-5 minutos)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Ícone&#10;&#10;O conteúdo gerado por IA pode estar incorreto.">
            <a:extLst>
              <a:ext uri="{FF2B5EF4-FFF2-40B4-BE49-F238E27FC236}">
                <a16:creationId xmlns:a16="http://schemas.microsoft.com/office/drawing/2014/main" id="{A8AFDC8E-EC67-2D58-DCE6-860ABB71D9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43000" y="2169934"/>
            <a:ext cx="9577832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43000" y="2746930"/>
            <a:ext cx="853440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/>
            </a:lvl1pPr>
          </a:lstStyle>
          <a:p>
            <a:r>
              <a:rPr lang="pt-BR" dirty="0"/>
              <a:t>Clique para editar o estilo do subtítulo Mestre</a:t>
            </a:r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5BD5008-DA0E-F6E0-D4C3-44ED92F6A3C3}"/>
              </a:ext>
            </a:extLst>
          </p:cNvPr>
          <p:cNvSpPr txBox="1"/>
          <p:nvPr userDrawn="1"/>
        </p:nvSpPr>
        <p:spPr>
          <a:xfrm>
            <a:off x="1166368" y="304800"/>
            <a:ext cx="1003503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>
                <a:latin typeface="Bahnschrift SemiBold" panose="020B0502040204020203" pitchFamily="34" charset="0"/>
              </a:rPr>
              <a:t>Concurso Público para Professor Efetivo</a:t>
            </a:r>
          </a:p>
          <a:p>
            <a:r>
              <a:rPr lang="pt-BR" sz="2200" dirty="0">
                <a:latin typeface="Bahnschrift SemiBold" panose="020B0502040204020203" pitchFamily="34" charset="0"/>
              </a:rPr>
              <a:t>Departamento de Gestão e Empreendedorismo UFS - Campus Estância</a:t>
            </a:r>
          </a:p>
          <a:p>
            <a:r>
              <a:rPr lang="pt-BR" sz="2200" dirty="0">
                <a:latin typeface="Bahnschrift SemiBold" panose="020B0502040204020203" pitchFamily="34" charset="0"/>
              </a:rPr>
              <a:t>Edital nº 009/2025</a:t>
            </a:r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92169DA-FF0B-4D55-0D25-67CC91B0C462}"/>
              </a:ext>
            </a:extLst>
          </p:cNvPr>
          <p:cNvSpPr txBox="1">
            <a:spLocks/>
          </p:cNvSpPr>
          <p:nvPr userDrawn="1"/>
        </p:nvSpPr>
        <p:spPr>
          <a:xfrm>
            <a:off x="1166368" y="3935383"/>
            <a:ext cx="9577832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eaLnBrk="1" hangingPunct="1">
              <a:defRPr sz="2200" b="1" i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Candidato: </a:t>
            </a:r>
            <a:r>
              <a:rPr lang="pt-BR" b="0" dirty="0"/>
              <a:t>Luiz Diego Vidal</a:t>
            </a:r>
          </a:p>
        </p:txBody>
      </p:sp>
    </p:spTree>
    <p:extLst>
      <p:ext uri="{BB962C8B-B14F-4D97-AF65-F5344CB8AC3E}">
        <p14:creationId xmlns:p14="http://schemas.microsoft.com/office/powerpoint/2010/main" val="2925160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43000" y="457200"/>
            <a:ext cx="7399273" cy="78867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5000" b="0" i="0">
                <a:solidFill>
                  <a:schemeClr val="tx1"/>
                </a:solidFill>
                <a:latin typeface="Tw Cen MT Condensed"/>
                <a:cs typeface="Tw Cen MT Condensed"/>
              </a:defRPr>
            </a:lvl1pPr>
          </a:lstStyle>
          <a:p>
            <a:r>
              <a:rPr lang="pt-BR" dirty="0"/>
              <a:t>Clique para editar o título Mestre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0600" y="2362200"/>
            <a:ext cx="10834217" cy="2819400"/>
          </a:xfrm>
        </p:spPr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86567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77660" y="5105400"/>
            <a:ext cx="1083421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bg object 16">
            <a:extLst>
              <a:ext uri="{FF2B5EF4-FFF2-40B4-BE49-F238E27FC236}">
                <a16:creationId xmlns:a16="http://schemas.microsoft.com/office/drawing/2014/main" id="{C8E0A127-FBDB-C3EA-A027-48921689A998}"/>
              </a:ext>
            </a:extLst>
          </p:cNvPr>
          <p:cNvSpPr/>
          <p:nvPr userDrawn="1"/>
        </p:nvSpPr>
        <p:spPr>
          <a:xfrm>
            <a:off x="1066800" y="407670"/>
            <a:ext cx="0" cy="914400"/>
          </a:xfrm>
          <a:custGeom>
            <a:avLst/>
            <a:gdLst/>
            <a:ahLst/>
            <a:cxnLst/>
            <a:rect l="l" t="t" r="r" b="b"/>
            <a:pathLst>
              <a:path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ln w="19050">
            <a:solidFill>
              <a:srgbClr val="A63B1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59176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</p:sldLayoutIdLst>
  <p:txStyles>
    <p:titleStyle>
      <a:lvl1pPr eaLnBrk="1" hangingPunct="1">
        <a:defRPr>
          <a:solidFill>
            <a:schemeClr val="bg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Bahnschrift" panose="020B0502040204020203" pitchFamily="34" charset="0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1">
                <a:solidFill>
                  <a:srgbClr val="730303"/>
                </a:solidFill>
                <a:latin typeface="Bahnschrift"/>
              </a:rPr>
              <a:t>Gestão da Inovação Tecnológica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r>
              <a:rPr>
                <a:solidFill>
                  <a:srgbClr val="A63B14"/>
                </a:solidFill>
              </a:rPr>
              <a:t>em Ambientes Empresariais e Acadêmicos</a:t>
            </a:r>
          </a:p>
          <a:p>
            <a:r>
              <a:rPr>
                <a:solidFill>
                  <a:srgbClr val="A63B14"/>
                </a:solidFill>
              </a:rPr>
              <a:t>Universidade Federal de Sergipe</a:t>
            </a:r>
          </a:p>
          <a:p>
            <a:r>
              <a:rPr>
                <a:solidFill>
                  <a:srgbClr val="A63B14"/>
                </a:solidFill>
              </a:rPr>
              <a:t>**Concurso Público para Docente**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730303"/>
                </a:solidFill>
                <a:latin typeface="Bahnschrift"/>
              </a:rPr>
              <a:t>📋 Agenda da Aula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A63B14"/>
                </a:solidFill>
              </a:defRPr>
            </a:pPr>
            <a:r>
              <a:t>Fundamentos (20 min)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1. Conceitos e evolução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2. Inovação Aberta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3. Capacidades Absortivas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A63B14"/>
                </a:solidFill>
              </a:defRPr>
            </a:pPr>
            <a:r>
              <a:t>Aplicações (20 min)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1. Ecossistemas de Inovação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2. Marco Legal Brasileiro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3. Caso Agitte.se/UFS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A63B14"/>
                </a:solidFill>
              </a:defRPr>
            </a:pPr>
            <a:r>
              <a:t>Síntese (10 min)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1. Conclusões e perspectivas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730303"/>
                </a:solidFill>
                <a:latin typeface="Bahnschrift"/>
              </a:rPr>
              <a:t>💡 Questão Provocativa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600">
                <a:solidFill>
                  <a:srgbClr val="0D0D0D"/>
                </a:solidFill>
                <a:latin typeface="Open Sans"/>
              </a:defRPr>
            </a:pPr>
            <a:r>
              <a:rPr b="1"/>
              <a:t>Por que 95% das inovações falham?</a:t>
            </a:r>
          </a:p>
          <a:p>
            <a:pPr>
              <a:spcAft>
                <a:spcPts val="800"/>
              </a:spcAft>
              <a:defRPr sz="1600">
                <a:solidFill>
                  <a:srgbClr val="0D0D0D"/>
                </a:solidFill>
                <a:latin typeface="Open Sans"/>
              </a:defRPr>
            </a:pPr>
            <a:r>
              <a:t>📊 </a:t>
            </a:r>
            <a:r>
              <a:rPr b="1"/>
              <a:t>Dados</a:t>
            </a:r>
            <a:r>
              <a:t>: Apenas 5% das inovações corporativas geram valor sustentável (Christensen, 2015)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730303"/>
                </a:solidFill>
                <a:latin typeface="Bahnschrift"/>
              </a:rPr>
              <a:t>📚 Evolução dos Modelos de Inovação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gestao_inovacao_paradig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258" y="1828800"/>
            <a:ext cx="518348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730303"/>
                </a:solidFill>
                <a:latin typeface="Bahnschrift"/>
              </a:rPr>
              <a:t>🌐 Paradigma da Inovação Aberta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A63B14"/>
                </a:solidFill>
              </a:defRPr>
            </a:pPr>
            <a:r>
              <a:t>Definição (Chesbrough, 2003)</a:t>
            </a:r>
          </a:p>
          <a:p>
            <a:pPr>
              <a:spcAft>
                <a:spcPts val="800"/>
              </a:spcAft>
              <a:defRPr sz="1600">
                <a:solidFill>
                  <a:srgbClr val="0D0D0D"/>
                </a:solidFill>
                <a:latin typeface="Open Sans"/>
              </a:defRPr>
            </a:pPr>
            <a:r>
              <a:t>&gt; "Uso intencional de fluxos de conhecimento para acelerar inovação interna e expandir mercados externos"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A63B14"/>
                </a:solidFill>
              </a:defRPr>
            </a:pPr>
            <a:r>
              <a:t>Princípios Fundamentais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1. Nem todo talento é interno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2. P&amp;D externa cria valor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3. Modelo de negócio &gt; Ser primeiro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4. PI própria por terceiros</a:t>
            </a:r>
          </a:p>
        </p:txBody>
      </p:sp>
      <p:pic>
        <p:nvPicPr>
          <p:cNvPr id="4" name="Picture 3" descr="inovacao_fechada_aber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258" y="1828800"/>
            <a:ext cx="518348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730303"/>
                </a:solidFill>
                <a:latin typeface="Bahnschrift"/>
              </a:rPr>
              <a:t>🧠 Capacidades Absortivas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A63B14"/>
                </a:solidFill>
              </a:defRPr>
            </a:pPr>
            <a:r>
              <a:t>Cohen &amp; Levinthal (1990)</a:t>
            </a:r>
          </a:p>
          <a:p>
            <a:pPr>
              <a:spcAft>
                <a:spcPts val="800"/>
              </a:spcAft>
              <a:defRPr sz="1600">
                <a:solidFill>
                  <a:srgbClr val="0D0D0D"/>
                </a:solidFill>
                <a:latin typeface="Open Sans"/>
              </a:defRPr>
            </a:pPr>
            <a:r>
              <a:rPr b="1"/>
              <a:t>"Capacidade absortiva é a habilidade de reconhecer, assimilar e aplicar comercialmente conhecimento externo"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1">
                <a:solidFill>
                  <a:srgbClr val="A63B14"/>
                </a:solidFill>
              </a:defRPr>
            </a:pPr>
            <a:r>
              <a:t>🔍 Reconhecer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Vigilância tecnológica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Prospecção mercados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rPr b="1"/>
              <a:t>P&amp;D prévio essencial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1">
                <a:solidFill>
                  <a:srgbClr val="A63B14"/>
                </a:solidFill>
              </a:defRPr>
            </a:pPr>
            <a:r>
              <a:t>🔄 Assimilar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Integração conhecimento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Rotinas organizacionais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rPr b="1"/>
              <a:t>Aprendizado coletivo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1">
                <a:solidFill>
                  <a:srgbClr val="A63B14"/>
                </a:solidFill>
              </a:defRPr>
            </a:pPr>
            <a:r>
              <a:t>💰 Aplicar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Comercialização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Vantagem competitiva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rPr b="1"/>
              <a:t>Apropriabilidade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228600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Determinante</a:t>
                      </a:r>
                    </a:p>
                  </a:txBody>
                  <a:tcPr>
                    <a:solidFill>
                      <a:srgbClr val="73030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Descrição</a:t>
                      </a:r>
                    </a:p>
                  </a:txBody>
                  <a:tcPr>
                    <a:solidFill>
                      <a:srgbClr val="73030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Exemplo UFS</a:t>
                      </a:r>
                    </a:p>
                  </a:txBody>
                  <a:tcPr>
                    <a:solidFill>
                      <a:srgbClr val="73030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D0D0D"/>
                          </a:solidFill>
                          <a:latin typeface="Open Sans"/>
                        </a:defRPr>
                      </a:pPr>
                      <a:r>
                        <a:t>**P&amp;D Interna**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D0D0D"/>
                          </a:solidFill>
                          <a:latin typeface="Open Sans"/>
                        </a:defRPr>
                      </a:pPr>
                      <a:r>
                        <a:t>Investimento contínuo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D0D0D"/>
                          </a:solidFill>
                          <a:latin typeface="Open Sans"/>
                        </a:defRPr>
                      </a:pPr>
                      <a:r>
                        <a:t>Laboratórios temáticos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D0D0D"/>
                          </a:solidFill>
                          <a:latin typeface="Open Sans"/>
                        </a:defRPr>
                      </a:pPr>
                      <a:r>
                        <a:t>**Qualificação**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D0D0D"/>
                          </a:solidFill>
                          <a:latin typeface="Open Sans"/>
                        </a:defRPr>
                      </a:pPr>
                      <a:r>
                        <a:t>Mestres e doutores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D0D0D"/>
                          </a:solidFill>
                          <a:latin typeface="Open Sans"/>
                        </a:defRPr>
                      </a:pPr>
                      <a:r>
                        <a:t>80% doutores (CAPES)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D0D0D"/>
                          </a:solidFill>
                          <a:latin typeface="Open Sans"/>
                        </a:defRPr>
                      </a:pPr>
                      <a:r>
                        <a:t>**Estruturas Híbridas**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D0D0D"/>
                          </a:solidFill>
                          <a:latin typeface="Open Sans"/>
                        </a:defRPr>
                      </a:pPr>
                      <a:r>
                        <a:t>NITs, incubadoras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D0D0D"/>
                          </a:solidFill>
                          <a:latin typeface="Open Sans"/>
                        </a:defRPr>
                      </a:pPr>
                      <a:r>
                        <a:t>Agitte.se, CISE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730303"/>
                </a:solidFill>
                <a:latin typeface="Bahnschrift"/>
              </a:rPr>
              <a:t>🔄 Ecossistemas de Inovação: Tríplice Hélice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nnovation_eco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8266" y="1828800"/>
            <a:ext cx="235546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730303"/>
                </a:solidFill>
                <a:latin typeface="Bahnschrift"/>
              </a:rPr>
              <a:t>⚖️ Marco Legal Brasileiro de CT&amp;I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A63B14"/>
                </a:solidFill>
              </a:defRPr>
            </a:pPr>
            <a:r>
              <a:t>Legislação Estruturante</a:t>
            </a:r>
          </a:p>
          <a:p>
            <a:pPr>
              <a:spcAft>
                <a:spcPts val="800"/>
              </a:spcAft>
              <a:defRPr sz="1600">
                <a:solidFill>
                  <a:srgbClr val="0D0D0D"/>
                </a:solidFill>
                <a:latin typeface="Open Sans"/>
              </a:defRPr>
            </a:pPr>
            <a:r>
              <a:rPr b="1"/>
              <a:t>Lei 10.973/2004</a:t>
            </a:r>
            <a:r>
              <a:t> - Lei de Inovação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Criação obrigatória de NITs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Bolsa estímulo à inovação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Compartilhamento laboratórios</a:t>
            </a:r>
          </a:p>
          <a:p>
            <a:pPr>
              <a:spcAft>
                <a:spcPts val="800"/>
              </a:spcAft>
              <a:defRPr sz="1600">
                <a:solidFill>
                  <a:srgbClr val="0D0D0D"/>
                </a:solidFill>
                <a:latin typeface="Open Sans"/>
              </a:defRPr>
            </a:pPr>
            <a:r>
              <a:rPr b="1"/>
              <a:t>Lei 13.243/2016</a:t>
            </a:r>
            <a:r>
              <a:t> - Novo Marco CT&amp;I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Flexibilização para parcerias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Pesquisador-servidor pode empreender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Fundações de apoio fortalecidas</a:t>
            </a:r>
          </a:p>
          <a:p>
            <a:pPr>
              <a:spcAft>
                <a:spcPts val="800"/>
              </a:spcAft>
              <a:defRPr sz="1600">
                <a:solidFill>
                  <a:srgbClr val="0D0D0D"/>
                </a:solidFill>
                <a:latin typeface="Open Sans"/>
              </a:defRPr>
            </a:pPr>
            <a:r>
              <a:rPr b="1"/>
              <a:t>Decreto 9.283/2018</a:t>
            </a:r>
            <a:r>
              <a:t> - Regulamentação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Dispensa de licitação ampliada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Encomendas tecnológicas facilitadas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Gestão compartilhada de ativos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A63B14"/>
                </a:solidFill>
              </a:defRPr>
            </a:pPr>
            <a:r>
              <a:t>Impactos na UFS</a:t>
            </a:r>
          </a:p>
          <a:p>
            <a:pPr>
              <a:spcAft>
                <a:spcPts val="800"/>
              </a:spcAft>
              <a:defRPr sz="1600">
                <a:solidFill>
                  <a:srgbClr val="0D0D0D"/>
                </a:solidFill>
                <a:latin typeface="Open Sans"/>
              </a:defRPr>
            </a:pPr>
            <a:r>
              <a:t>📊 </a:t>
            </a:r>
            <a:r>
              <a:rPr b="1"/>
              <a:t>Dados Institucionais (2024)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rPr b="1"/>
              <a:t>27 patentes</a:t>
            </a:r>
            <a:r>
              <a:t> depositadas via Agitte.se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rPr b="1"/>
              <a:t>R$ 8,3 milhões</a:t>
            </a:r>
            <a:r>
              <a:t> em projetos de inovação (2020-2024)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rPr b="1"/>
              <a:t>42 acordos</a:t>
            </a:r>
            <a:r>
              <a:t> de cooperação ICT-empresa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rPr b="1"/>
              <a:t>3 spin-offs</a:t>
            </a:r>
            <a:r>
              <a:t> acadêmicos ativos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800" b="1">
                <a:solidFill>
                  <a:srgbClr val="A63B14"/>
                </a:solidFill>
              </a:defRPr>
            </a:pPr>
            <a:r>
              <a:t>Resolução 33/2022 - UFS</a:t>
            </a:r>
          </a:p>
          <a:p>
            <a:pPr>
              <a:spcAft>
                <a:spcPts val="800"/>
              </a:spcAft>
              <a:defRPr sz="1600">
                <a:solidFill>
                  <a:srgbClr val="0D0D0D"/>
                </a:solidFill>
                <a:latin typeface="Open Sans"/>
              </a:defRPr>
            </a:pPr>
            <a:r>
              <a:t>Política Institucional de Inovação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Governança da inovação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Instrumentos jurídicos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Propriedade intelectual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Empreendedorismo acadêmico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730303"/>
                </a:solidFill>
                <a:latin typeface="Bahnschrift"/>
              </a:rPr>
              <a:t>🎯 Caso Prático: Ecossistema Sergipano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sergipe_eco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258" y="1828800"/>
            <a:ext cx="518348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730303"/>
                </a:solidFill>
                <a:latin typeface="Bahnschrift"/>
              </a:rPr>
              <a:t>📊 Desafios e Oportunidades no Brasil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A63B14"/>
                </a:solidFill>
              </a:defRPr>
            </a:pPr>
            <a:r>
              <a:t>⚠️ Desafios Estruturais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1. </a:t>
            </a:r>
            <a:r>
              <a:rPr b="1"/>
              <a:t>Baixo investimento empresarial</a:t>
            </a:r>
          </a:p>
          <a:p>
            <a:pPr lvl="1">
              <a:defRPr sz="1600">
                <a:solidFill>
                  <a:srgbClr val="0D0D0D"/>
                </a:solidFill>
                <a:latin typeface="Open Sans"/>
              </a:defRPr>
            </a:pPr>
            <a:r>
              <a:t>Apenas 0,6% do PIB (vs. 1,5% OCDE)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2. </a:t>
            </a:r>
            <a:r>
              <a:rPr b="1"/>
              <a:t>Fragmentação do sistema</a:t>
            </a:r>
          </a:p>
          <a:p>
            <a:pPr lvl="1">
              <a:defRPr sz="1600">
                <a:solidFill>
                  <a:srgbClr val="0D0D0D"/>
                </a:solidFill>
                <a:latin typeface="Open Sans"/>
              </a:defRPr>
            </a:pPr>
            <a:r>
              <a:t>Desarticulação hélices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3. </a:t>
            </a:r>
            <a:r>
              <a:rPr b="1"/>
              <a:t>Burocracia excessiva</a:t>
            </a:r>
          </a:p>
          <a:p>
            <a:pPr lvl="1">
              <a:defRPr sz="1600">
                <a:solidFill>
                  <a:srgbClr val="0D0D0D"/>
                </a:solidFill>
                <a:latin typeface="Open Sans"/>
              </a:defRPr>
            </a:pPr>
            <a:r>
              <a:t>Tempo médio patenteamento: 10 anos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4. </a:t>
            </a:r>
            <a:r>
              <a:rPr b="1"/>
              <a:t>Cultura de risco avessa</a:t>
            </a:r>
          </a:p>
          <a:p>
            <a:pPr lvl="1">
              <a:defRPr sz="1600">
                <a:solidFill>
                  <a:srgbClr val="0D0D0D"/>
                </a:solidFill>
                <a:latin typeface="Open Sans"/>
              </a:defRPr>
            </a:pPr>
            <a:r>
              <a:t>Venture Capital: 0,03% PIB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A63B14"/>
                </a:solidFill>
              </a:defRPr>
            </a:pPr>
            <a:r>
              <a:t>💡 Oportunidades Estratégicas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1. </a:t>
            </a:r>
            <a:r>
              <a:rPr b="1"/>
              <a:t>Transição energética</a:t>
            </a:r>
          </a:p>
          <a:p>
            <a:pPr lvl="1">
              <a:defRPr sz="1600">
                <a:solidFill>
                  <a:srgbClr val="0D0D0D"/>
                </a:solidFill>
                <a:latin typeface="Open Sans"/>
              </a:defRPr>
            </a:pPr>
            <a:r>
              <a:t>Bioeconomia e H2 verde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2. </a:t>
            </a:r>
            <a:r>
              <a:rPr b="1"/>
              <a:t>Digitalização serviços públicos</a:t>
            </a:r>
          </a:p>
          <a:p>
            <a:pPr lvl="1">
              <a:defRPr sz="1600">
                <a:solidFill>
                  <a:srgbClr val="0D0D0D"/>
                </a:solidFill>
                <a:latin typeface="Open Sans"/>
              </a:defRPr>
            </a:pPr>
            <a:r>
              <a:t>GovTech e blockchain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3. </a:t>
            </a:r>
            <a:r>
              <a:rPr b="1"/>
              <a:t>Agro 4.0 e biotech</a:t>
            </a:r>
          </a:p>
          <a:p>
            <a:pPr lvl="1">
              <a:defRPr sz="1600">
                <a:solidFill>
                  <a:srgbClr val="0D0D0D"/>
                </a:solidFill>
                <a:latin typeface="Open Sans"/>
              </a:defRPr>
            </a:pPr>
            <a:r>
              <a:t>Embrapa + startups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4. </a:t>
            </a:r>
            <a:r>
              <a:rPr b="1"/>
              <a:t>Descentralização P&amp;D</a:t>
            </a:r>
          </a:p>
          <a:p>
            <a:pPr lvl="1">
              <a:defRPr sz="1600">
                <a:solidFill>
                  <a:srgbClr val="0D0D0D"/>
                </a:solidFill>
                <a:latin typeface="Open Sans"/>
              </a:defRPr>
            </a:pPr>
            <a:r>
              <a:t>Nordeste: 15% → 25% até 2030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730303"/>
                </a:solidFill>
                <a:latin typeface="Bahnschrift"/>
              </a:rPr>
              <a:t>🔮 Tendências Contemporâneas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A63B14"/>
                </a:solidFill>
              </a:defRPr>
            </a:pPr>
            <a:r>
              <a:t>🤖 IA e Automação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Gestão de portfólios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Prospecção tecnológica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Predição de sucesso</a:t>
            </a:r>
          </a:p>
          <a:p>
            <a:pPr>
              <a:spcAft>
                <a:spcPts val="800"/>
              </a:spcAft>
              <a:defRPr sz="1600">
                <a:solidFill>
                  <a:srgbClr val="0D0D0D"/>
                </a:solidFill>
                <a:latin typeface="Open Sans"/>
              </a:defRPr>
            </a:pPr>
            <a:r>
              <a:rPr b="1"/>
              <a:t>Exemplo</a:t>
            </a:r>
            <a:r>
              <a:t>: Algorithmic R&amp;D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A63B14"/>
                </a:solidFill>
              </a:defRPr>
            </a:pPr>
            <a:r>
              <a:t>🌱 Inovação Sustentável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ESG como imperativo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Economia circular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Tecnologias limpas</a:t>
            </a:r>
          </a:p>
          <a:p>
            <a:pPr>
              <a:spcAft>
                <a:spcPts val="800"/>
              </a:spcAft>
              <a:defRPr sz="1600">
                <a:solidFill>
                  <a:srgbClr val="0D0D0D"/>
                </a:solidFill>
                <a:latin typeface="Open Sans"/>
              </a:defRPr>
            </a:pPr>
            <a:r>
              <a:rPr b="1"/>
              <a:t>Exemplo</a:t>
            </a:r>
            <a:r>
              <a:t>: Embrapa Agrossilvipastoril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A63B14"/>
                </a:solidFill>
              </a:defRPr>
            </a:pPr>
            <a:r>
              <a:t>🔗 Open Innovation 4.0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Plataformas digitais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Crowdsourcing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Blockchain para PI</a:t>
            </a:r>
          </a:p>
          <a:p>
            <a:pPr>
              <a:spcAft>
                <a:spcPts val="800"/>
              </a:spcAft>
              <a:defRPr sz="1600">
                <a:solidFill>
                  <a:srgbClr val="0D0D0D"/>
                </a:solidFill>
                <a:latin typeface="Open Sans"/>
              </a:defRPr>
            </a:pPr>
            <a:r>
              <a:rPr b="1"/>
              <a:t>Exemplo</a:t>
            </a:r>
            <a:r>
              <a:t>: InnoCentive, PatentSafe</a:t>
            </a:r>
          </a:p>
          <a:p>
            <a:pPr>
              <a:spcAft>
                <a:spcPts val="800"/>
              </a:spcAft>
              <a:defRPr sz="1600">
                <a:solidFill>
                  <a:srgbClr val="0D0D0D"/>
                </a:solidFill>
                <a:latin typeface="Open Sans"/>
              </a:defRPr>
            </a:pPr>
            <a:r>
              <a:rPr b="1"/>
              <a:t>Pergunta de reflexão:</a:t>
            </a:r>
            <a:r>
              <a:t> Como a UFS pode liderar a transição para esses novos paradigmas?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730303"/>
                </a:solidFill>
                <a:latin typeface="Bahnschrift"/>
              </a:rPr>
              <a:t>🎓 Síntese Conceitual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600">
                <a:solidFill>
                  <a:srgbClr val="0D0D0D"/>
                </a:solidFill>
                <a:latin typeface="Open Sans"/>
              </a:defRPr>
            </a:pPr>
            <a:r>
              <a:rPr b="1"/>
              <a:t>Fluxo Conceitual: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A63B14"/>
                </a:solidFill>
              </a:defRPr>
            </a:pPr>
            <a:r>
              <a:t>🔑 Mensagens-Chave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1. </a:t>
            </a:r>
            <a:r>
              <a:rPr b="1"/>
              <a:t>Gestão da inovação evoluiu</a:t>
            </a:r>
            <a:r>
              <a:t> de modelos lineares para ecossistemas complexos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2. </a:t>
            </a:r>
            <a:r>
              <a:rPr b="1"/>
              <a:t>Inovação aberta e capacidades absortivas</a:t>
            </a:r>
            <a:r>
              <a:t> são complementares, não excludentes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3. </a:t>
            </a:r>
            <a:r>
              <a:rPr b="1"/>
              <a:t>Marco Legal brasileiro</a:t>
            </a:r>
            <a:r>
              <a:t> avançou significativamente, mas implementação é desafio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4. </a:t>
            </a:r>
            <a:r>
              <a:rPr b="1"/>
              <a:t>Universidades</a:t>
            </a:r>
            <a:r>
              <a:t> têm papel estratégico como catalisadores de ecossistemas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5. </a:t>
            </a:r>
            <a:r>
              <a:rPr b="1"/>
              <a:t>Futuro</a:t>
            </a:r>
            <a:r>
              <a:t> demanda integração sustentabilidade + digitalização + colaboração</a:t>
            </a:r>
          </a:p>
        </p:txBody>
      </p:sp>
      <p:pic>
        <p:nvPicPr>
          <p:cNvPr id="4" name="Picture 3" descr="inovacao_ecossist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258" y="1828800"/>
            <a:ext cx="518348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1. </a:t>
            </a:r>
            <a:r>
              <a:rPr b="1"/>
              <a:t>Como as universidades públicas brasileiras podem fortalecer suas capacidades absortivas em contextos de restrição orçamentária?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2. </a:t>
            </a:r>
            <a:r>
              <a:rPr b="1"/>
              <a:t>Quais os principais obstáculos à operacionalização da Tríplice Hélice no Nordeste e como superá-los?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3. </a:t>
            </a:r>
            <a:r>
              <a:rPr b="1"/>
              <a:t>De que modo a transformação digital está ressignificando os modelos tradicionais de gestão da inovação?</a:t>
            </a:r>
          </a:p>
          <a:p>
            <a:pPr>
              <a:defRPr sz="1800">
                <a:solidFill>
                  <a:srgbClr val="0D0D0D"/>
                </a:solidFill>
                <a:latin typeface="Open Sans"/>
              </a:defRPr>
            </a:pPr>
            <a:r>
              <a:t>4. </a:t>
            </a:r>
            <a:r>
              <a:rPr b="1"/>
              <a:t>Como conciliar abertura para inovação e proteção adequada de propriedade intelectual?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600">
                <a:solidFill>
                  <a:srgbClr val="0D0D0D"/>
                </a:solidFill>
                <a:latin typeface="Open Sans"/>
              </a:defRPr>
            </a:pPr>
            <a:r>
              <a:rPr b="1"/>
              <a:t>CHESBROUGH, H.</a:t>
            </a:r>
            <a:r>
              <a:t> (2003). Open Innovation: The New Imperative for Creating and Profiting from Technology. Harvard Business School Press.</a:t>
            </a:r>
          </a:p>
          <a:p>
            <a:pPr>
              <a:spcAft>
                <a:spcPts val="800"/>
              </a:spcAft>
              <a:defRPr sz="1600">
                <a:solidFill>
                  <a:srgbClr val="0D0D0D"/>
                </a:solidFill>
                <a:latin typeface="Open Sans"/>
              </a:defRPr>
            </a:pPr>
            <a:r>
              <a:rPr b="1"/>
              <a:t>COHEN, W. M.; LEVINTHAL, D. A.</a:t>
            </a:r>
            <a:r>
              <a:t> (1990). Absorptive Capacity: A New Perspective on Learning and Innovation. Administrative Science Quarterly, 35(1), 128-152.</a:t>
            </a:r>
          </a:p>
          <a:p>
            <a:pPr>
              <a:spcAft>
                <a:spcPts val="800"/>
              </a:spcAft>
              <a:defRPr sz="1600">
                <a:solidFill>
                  <a:srgbClr val="0D0D0D"/>
                </a:solidFill>
                <a:latin typeface="Open Sans"/>
              </a:defRPr>
            </a:pPr>
            <a:r>
              <a:rPr b="1"/>
              <a:t>ETZKOWITZ, H.; LEYDESDORFF, L.</a:t>
            </a:r>
            <a:r>
              <a:t> (2000). The Dynamics of Innovation: From National Systems and "Mode 2" to a Triple Helix. Research Policy, 29(2), 109-123.</a:t>
            </a:r>
          </a:p>
          <a:p>
            <a:pPr>
              <a:spcAft>
                <a:spcPts val="800"/>
              </a:spcAft>
              <a:defRPr sz="1600">
                <a:solidFill>
                  <a:srgbClr val="0D0D0D"/>
                </a:solidFill>
                <a:latin typeface="Open Sans"/>
              </a:defRPr>
            </a:pPr>
            <a:r>
              <a:rPr b="1"/>
              <a:t>FREEMAN, C.</a:t>
            </a:r>
            <a:r>
              <a:t> (1987). Technology Policy and Economic Performance: Lessons from Japan. London: Pinter.</a:t>
            </a:r>
          </a:p>
          <a:p>
            <a:pPr>
              <a:spcAft>
                <a:spcPts val="800"/>
              </a:spcAft>
              <a:defRPr sz="1600">
                <a:solidFill>
                  <a:srgbClr val="0D0D0D"/>
                </a:solidFill>
                <a:latin typeface="Open Sans"/>
              </a:defRPr>
            </a:pPr>
            <a:r>
              <a:rPr b="1"/>
              <a:t>LUNDVALL, B.-Å.</a:t>
            </a:r>
            <a:r>
              <a:t> (1992). National Systems of Innovation: Towards a Theory of Innovation and Interactive Learning. London: Pinter.</a:t>
            </a:r>
          </a:p>
          <a:p>
            <a:pPr>
              <a:spcAft>
                <a:spcPts val="800"/>
              </a:spcAft>
              <a:defRPr sz="1600">
                <a:solidFill>
                  <a:srgbClr val="0D0D0D"/>
                </a:solidFill>
                <a:latin typeface="Open Sans"/>
              </a:defRPr>
            </a:pPr>
            <a:r>
              <a:rPr b="1"/>
              <a:t>MCTI</a:t>
            </a:r>
            <a:r>
              <a:t> (2023). Indicadores Nacionais de Ciência, Tecnologia e Inovação 2023. Brasília.</a:t>
            </a:r>
          </a:p>
          <a:p>
            <a:pPr>
              <a:spcAft>
                <a:spcPts val="800"/>
              </a:spcAft>
              <a:defRPr sz="1600">
                <a:solidFill>
                  <a:srgbClr val="0D0D0D"/>
                </a:solidFill>
                <a:latin typeface="Open Sans"/>
              </a:defRPr>
            </a:pPr>
            <a:r>
              <a:rPr b="1"/>
              <a:t>UFS</a:t>
            </a:r>
            <a:r>
              <a:t> (2022). Resolução nº 33/2022/CONSU - Política Institucional de Inovação da UFS.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600">
                <a:solidFill>
                  <a:srgbClr val="0D0D0D"/>
                </a:solidFill>
                <a:latin typeface="Open Sans"/>
              </a:defRPr>
            </a:pPr>
            <a:r>
              <a:t>📧 email@ufs.br</a:t>
            </a:r>
          </a:p>
          <a:p>
            <a:pPr>
              <a:spcAft>
                <a:spcPts val="800"/>
              </a:spcAft>
              <a:defRPr sz="1600">
                <a:solidFill>
                  <a:srgbClr val="0D0D0D"/>
                </a:solidFill>
                <a:latin typeface="Open Sans"/>
              </a:defRPr>
            </a:pPr>
            <a:r>
              <a:t>🔗 lattes.cnpq.br/[seu-lattes]</a:t>
            </a:r>
          </a:p>
          <a:p>
            <a:pPr>
              <a:spcAft>
                <a:spcPts val="800"/>
              </a:spcAft>
              <a:defRPr sz="1600">
                <a:solidFill>
                  <a:srgbClr val="0D0D0D"/>
                </a:solidFill>
                <a:latin typeface="Open Sans"/>
              </a:defRPr>
            </a:pPr>
            <a:r>
              <a:t>Concurso Público - Gestão da Inovação Tecnológica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r>
              <a:rPr>
                <a:solidFill>
                  <a:srgbClr val="A63B14"/>
                </a:solidFill>
              </a:rPr>
              <a:t>Perguntas?</a:t>
            </a:r>
          </a:p>
          <a:p>
            <a:r>
              <a:rPr>
                <a:solidFill>
                  <a:srgbClr val="A63B14"/>
                </a:solidFill>
              </a:rPr>
              <a:t>**Prof. [Seu Nome]**</a:t>
            </a:r>
          </a:p>
          <a:p>
            <a:r>
              <a:rPr>
                <a:solidFill>
                  <a:srgbClr val="A63B14"/>
                </a:solidFill>
              </a:rPr>
              <a:t>**Universidade Federal de Sergipe**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Laranja Amarelo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Personalizada 5">
      <a:majorFont>
        <a:latin typeface="Bahnschrift"/>
        <a:ea typeface=""/>
        <a:cs typeface=""/>
      </a:majorFont>
      <a:minorFont>
        <a:latin typeface="Bahnschrift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" id="{97255C85-0B80-4E60-9D05-5F61BE6F5B0D}" vid="{6CC80195-0220-4972-A526-2B1ECEC5E5B7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1590</TotalTime>
  <Words>2577</Words>
  <Application>Microsoft Office PowerPoint</Application>
  <PresentationFormat>Widescreen</PresentationFormat>
  <Paragraphs>355</Paragraphs>
  <Slides>21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Bahnschrift</vt:lpstr>
      <vt:lpstr>Bahnschrift SemiBold</vt:lpstr>
      <vt:lpstr>Calibri</vt:lpstr>
      <vt:lpstr>Tw Cen MT Condensed</vt:lpstr>
      <vt:lpstr>Template</vt:lpstr>
      <vt:lpstr>Tema 5</vt:lpstr>
      <vt:lpstr>📋 Agenda da Aula</vt:lpstr>
      <vt:lpstr>Evolução da Gestão da Inovação Tecnológica (GIT)</vt:lpstr>
      <vt:lpstr>🚪 Modelo Stage-Gate (Cooper, 1990/2008)</vt:lpstr>
      <vt:lpstr>🛡️ Decisões de PI no Stage-Gate</vt:lpstr>
      <vt:lpstr>🛡️ Decisões de PI: Gate 2 - Viabilidade</vt:lpstr>
      <vt:lpstr>🛡️ Decisões de PI: Gates 3, 4 e 5</vt:lpstr>
      <vt:lpstr>📊 Escala TRL (Technology Readiness Levels)</vt:lpstr>
      <vt:lpstr>🧠 Capacidade Absortiva</vt:lpstr>
      <vt:lpstr>🧠 Capacidades Dinâmicas</vt:lpstr>
      <vt:lpstr>🧠 Ambidestria Organizacional</vt:lpstr>
      <vt:lpstr>Capacidade Absortiva: Natureza Path-Dependent</vt:lpstr>
      <vt:lpstr>Ferramentas Analíticas de PI</vt:lpstr>
      <vt:lpstr>Indicadores de Performance de PI</vt:lpstr>
      <vt:lpstr>Marco Regulatório Brasileiro de PI</vt:lpstr>
      <vt:lpstr>🔗 Integração Stage-Gate + TRL + PI</vt:lpstr>
      <vt:lpstr>🎯 Caso Aplicado: Universidade Federal de Sergipe</vt:lpstr>
      <vt:lpstr>🎓 Síntese Conceitual</vt:lpstr>
      <vt:lpstr> 1. Como equilibrar o imperativo de publicação acadêmica (avaliação docente) com a necessidade de proteção de PI antes da divulgação? 2. Quais critérios devem orientar a decisão entre licenciamento, spin-off ou exploração direta de uma tecnologia universitária? 3. De que forma NITs de universidades pequenas podem superar limitações de capacidade técnica e orçamentária? 4. Como integrar políticas de inovação aberta (fluxos externos) com proteção de PI (barreiras de exclusão)?</vt:lpstr>
      <vt:lpstr> CHESBROUGH, H. (2003). Open Innovation: The New Imperative for Creating and Profiting from Technology. Harvard Business School Press. COHEN, W.; LEVINTHAL, D. (1990). Absorptive Capacity: A New Perspective on Learning and Innovation. Administrative Science Quarterly, 35(1), 128-152. COOPER, R. (1990). Stage-Gate Systems: A New Tool for Managing New Products. Business Horizons, 33(3), 44-54. COOPER, R. (2008). Perspective: The Stage-Gate Idea-to-Launch Process—Update, What's New, and NexGen Systems. Journal of Product Innovation Management, 25(3), 213-232. KLINE, S.; ROSENBERG, N. (1986). An Overview of Innovation. In: LANDAU, R.; ROSENBERG, N. (Eds.). The Positive Sum Strategy. National Academy Press. MANKINS, J. (1995). Technology Readiness Levels: A White Paper. NASA. TEECE, D. (1986). Profiting from Technological Innovation. Research Policy, 15(6), 285-305. TEECE, D. (2007). Explicating Dynamic Capabilities. Strategic Management Journal, 28(13), 1319-1350.</vt:lpstr>
      <vt:lpstr> 📧 email@ufs.br 🔗 lattes.cnpq.br/[seu-lattes] Concurso Público - Gestão da Inovação Tecnológica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Diego Vidal Santos</dc:creator>
  <cp:lastModifiedBy>Diego Vidal Santos</cp:lastModifiedBy>
  <cp:revision>27</cp:revision>
  <dcterms:created xsi:type="dcterms:W3CDTF">2022-04-10T16:18:29Z</dcterms:created>
  <dcterms:modified xsi:type="dcterms:W3CDTF">2025-10-28T20:22:10Z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2021-01-20T00:00:00Z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2022-04-10T00:00:00Z</vt:filetime>
  </property>
</Properties>
</file>