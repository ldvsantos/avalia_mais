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6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3B1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Estilo com Tema 1 - Ênfas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75DCB02-9BB8-47FD-8907-85C794F793BA}" styleName="Estilo com Tema 1 - Ênfas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Estilo com Tema 1 - Ênfas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27237"/>
    <p:restoredTop sz="94669"/>
  </p:normalViewPr>
  <p:slideViewPr>
    <p:cSldViewPr>
      <p:cViewPr varScale="1">
        <p:scale>
          <a:sx d="100" n="111"/>
          <a:sy d="100" n="111"/>
        </p:scale>
        <p:origin x="1764" y="114"/>
      </p:cViewPr>
      <p:guideLst>
        <p:guide orient="horz" pos="2880"/>
        <p:guide pos="216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17" Type="http://schemas.openxmlformats.org/officeDocument/2006/relationships/viewProps" Target="viewProps.xml" /><Relationship Id="rId18" Type="http://schemas.openxmlformats.org/officeDocument/2006/relationships/theme" Target="theme/theme1.xml" /><Relationship Id="rId19" Type="http://schemas.openxmlformats.org/officeDocument/2006/relationships/tableStyles" Target="tableStyles.xml" /><Relationship Id="rId20" Type="http://schemas.microsoft.com/office/2016/11/relationships/changesInfo" Target="changesInfos/changesInfo1.xml" /><Relationship Id="rId21" Type="http://schemas.microsoft.com/office/2015/10/relationships/revisionInfo" Target="revisionInfo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theme/theme1.xml" Type="http://schemas.openxmlformats.org/officeDocument/2006/relationships/theme" /><Relationship Id="rId8" Type="http://schemas.openxmlformats.org/officeDocument/2006/relationships/slideLayout" Target="../slideLayouts/slideLayout3.xml" /><Relationship Id="rId7" Type="http://schemas.openxmlformats.org/officeDocument/2006/relationships/slideLayout" Target="../slideLayouts/slideLayout4.xml" /><Relationship Id="rId6" Type="http://schemas.openxmlformats.org/officeDocument/2006/relationships/slideLayout" Target="../slideLayouts/slideLayout5.xml" /><Relationship Id="rId5" Type="http://schemas.openxmlformats.org/officeDocument/2006/relationships/slideLayout" Target="../slideLayouts/slideLayout8.xml" /><Relationship Id="rId4" Type="http://schemas.openxmlformats.org/officeDocument/2006/relationships/slideLayout" Target="../slideLayouts/slideLayout7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idx="1" type="body"/>
          </p:nvPr>
        </p:nvSpPr>
        <p:spPr>
          <a:xfrm>
            <a:off x="977660" y="5105400"/>
            <a:ext cx="10834217" cy="276999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idx="5" sz="quarter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5" name="Holder 5"/>
          <p:cNvSpPr>
            <a:spLocks noGrp="1"/>
          </p:cNvSpPr>
          <p:nvPr>
            <p:ph idx="6" sz="half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idx="7" sz="quarter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bIns="0" lIns="0" rIns="0" tIns="0" wrap="square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bg object 16">
            <a:extLst>
              <a:ext uri="{FF2B5EF4-FFF2-40B4-BE49-F238E27FC236}">
                <a16:creationId xmlns:a16="http://schemas.microsoft.com/office/drawing/2014/main" id="{C8E0A127-FBDB-C3EA-A027-48921689A998}"/>
              </a:ext>
            </a:extLst>
          </p:cNvPr>
          <p:cNvSpPr/>
          <p:nvPr userDrawn="1"/>
        </p:nvSpPr>
        <p:spPr>
          <a:xfrm>
            <a:off x="1066800" y="407670"/>
            <a:ext cx="0" cy="914400"/>
          </a:xfrm>
          <a:custGeom>
            <a:avLst/>
            <a:gdLst/>
            <a:ahLst/>
            <a:cxnLst/>
            <a:rect b="b" l="l" r="r" t="t"/>
            <a:pathLst>
              <a:path h="914400">
                <a:moveTo>
                  <a:pt x="0" y="914400"/>
                </a:moveTo>
                <a:lnTo>
                  <a:pt x="0" y="0"/>
                </a:lnTo>
              </a:path>
            </a:pathLst>
          </a:custGeom>
          <a:ln w="19050">
            <a:solidFill>
              <a:srgbClr val="A63B14"/>
            </a:solidFill>
          </a:ln>
        </p:spPr>
        <p:txBody>
          <a:bodyPr bIns="0" lIns="0" rIns="0" rtlCol="0" tIns="0" wrap="square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9176614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8" r:id="rId1"/>
    <p:sldLayoutId id="2147483669" r:id="rId2"/>
    <p:sldLayoutId id="2147483674" r:id="rId8"/>
    <p:sldLayoutId id="2147483673" r:id="rId7"/>
    <p:sldLayoutId id="2147483672" r:id="rId6"/>
    <p:sldLayoutId id="2147483671" r:id="rId5"/>
    <p:sldLayoutId id="2147483670" r:id="rId4"/>
  </p:sldLayoutIdLst>
  <p:txStyles>
    <p:titleStyle>
      <a:lvl1pPr eaLnBrk="1" hangingPunct="1">
        <a:defRPr>
          <a:solidFill>
            <a:schemeClr val="bg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eaLnBrk="1" hangingPunct="1" marL="0">
        <a:defRPr>
          <a:latin charset="0" panose="020B0502040204020203" pitchFamily="34" typeface="Bahnschrift"/>
          <a:ea typeface="+mn-ea"/>
          <a:cs typeface="+mn-cs"/>
        </a:defRPr>
      </a:lvl1pPr>
      <a:lvl2pPr eaLnBrk="1" hangingPunct="1" marL="457200">
        <a:defRPr>
          <a:latin typeface="+mn-lt"/>
          <a:ea typeface="+mn-ea"/>
          <a:cs typeface="+mn-cs"/>
        </a:defRPr>
      </a:lvl2pPr>
      <a:lvl3pPr eaLnBrk="1" hangingPunct="1" marL="914400">
        <a:defRPr>
          <a:latin typeface="+mn-lt"/>
          <a:ea typeface="+mn-ea"/>
          <a:cs typeface="+mn-cs"/>
        </a:defRPr>
      </a:lvl3pPr>
      <a:lvl4pPr eaLnBrk="1" hangingPunct="1" marL="1371600">
        <a:defRPr>
          <a:latin typeface="+mn-lt"/>
          <a:ea typeface="+mn-ea"/>
          <a:cs typeface="+mn-cs"/>
        </a:defRPr>
      </a:lvl4pPr>
      <a:lvl5pPr eaLnBrk="1" hangingPunct="1" marL="1828800">
        <a:defRPr>
          <a:latin typeface="+mn-lt"/>
          <a:ea typeface="+mn-ea"/>
          <a:cs typeface="+mn-cs"/>
        </a:defRPr>
      </a:lvl5pPr>
      <a:lvl6pPr eaLnBrk="1" hangingPunct="1" marL="2286000">
        <a:defRPr>
          <a:latin typeface="+mn-lt"/>
          <a:ea typeface="+mn-ea"/>
          <a:cs typeface="+mn-cs"/>
        </a:defRPr>
      </a:lvl6pPr>
      <a:lvl7pPr eaLnBrk="1" hangingPunct="1" marL="2743200">
        <a:defRPr>
          <a:latin typeface="+mn-lt"/>
          <a:ea typeface="+mn-ea"/>
          <a:cs typeface="+mn-cs"/>
        </a:defRPr>
      </a:lvl7pPr>
      <a:lvl8pPr eaLnBrk="1" hangingPunct="1" marL="3200400">
        <a:defRPr>
          <a:latin typeface="+mn-lt"/>
          <a:ea typeface="+mn-ea"/>
          <a:cs typeface="+mn-cs"/>
        </a:defRPr>
      </a:lvl8pPr>
      <a:lvl9pPr eaLnBrk="1" hangingPunct="1" marL="3657600">
        <a:defRPr>
          <a:latin typeface="+mn-lt"/>
          <a:ea typeface="+mn-ea"/>
          <a:cs typeface="+mn-cs"/>
        </a:defRPr>
      </a:lvl9pPr>
    </p:bodyStyle>
    <p:otherStyle>
      <a:lvl1pPr eaLnBrk="1" hangingPunct="1" marL="0">
        <a:defRPr>
          <a:latin typeface="+mn-lt"/>
          <a:ea typeface="+mn-ea"/>
          <a:cs typeface="+mn-cs"/>
        </a:defRPr>
      </a:lvl1pPr>
      <a:lvl2pPr eaLnBrk="1" hangingPunct="1" marL="457200">
        <a:defRPr>
          <a:latin typeface="+mn-lt"/>
          <a:ea typeface="+mn-ea"/>
          <a:cs typeface="+mn-cs"/>
        </a:defRPr>
      </a:lvl2pPr>
      <a:lvl3pPr eaLnBrk="1" hangingPunct="1" marL="914400">
        <a:defRPr>
          <a:latin typeface="+mn-lt"/>
          <a:ea typeface="+mn-ea"/>
          <a:cs typeface="+mn-cs"/>
        </a:defRPr>
      </a:lvl3pPr>
      <a:lvl4pPr eaLnBrk="1" hangingPunct="1" marL="1371600">
        <a:defRPr>
          <a:latin typeface="+mn-lt"/>
          <a:ea typeface="+mn-ea"/>
          <a:cs typeface="+mn-cs"/>
        </a:defRPr>
      </a:lvl4pPr>
      <a:lvl5pPr eaLnBrk="1" hangingPunct="1" marL="1828800">
        <a:defRPr>
          <a:latin typeface="+mn-lt"/>
          <a:ea typeface="+mn-ea"/>
          <a:cs typeface="+mn-cs"/>
        </a:defRPr>
      </a:lvl5pPr>
      <a:lvl6pPr eaLnBrk="1" hangingPunct="1" marL="2286000">
        <a:defRPr>
          <a:latin typeface="+mn-lt"/>
          <a:ea typeface="+mn-ea"/>
          <a:cs typeface="+mn-cs"/>
        </a:defRPr>
      </a:lvl6pPr>
      <a:lvl7pPr eaLnBrk="1" hangingPunct="1" marL="2743200">
        <a:defRPr>
          <a:latin typeface="+mn-lt"/>
          <a:ea typeface="+mn-ea"/>
          <a:cs typeface="+mn-cs"/>
        </a:defRPr>
      </a:lvl7pPr>
      <a:lvl8pPr eaLnBrk="1" hangingPunct="1" marL="3200400">
        <a:defRPr>
          <a:latin typeface="+mn-lt"/>
          <a:ea typeface="+mn-ea"/>
          <a:cs typeface="+mn-cs"/>
        </a:defRPr>
      </a:lvl8pPr>
      <a:lvl9pPr eaLnBrk="1" hangingPunct="1"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inscricao.html" TargetMode="External" /><Relationship Id="rId3" Type="http://schemas.openxmlformats.org/officeDocument/2006/relationships/hyperlink" Target="../selecao.html" TargetMode="External" /><Relationship Id="rId4" Type="http://schemas.openxmlformats.org/officeDocument/2006/relationships/hyperlink" Target="../selecao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../inscricao.html" TargetMode="External" /><Relationship Id="rId3" Type="http://schemas.openxmlformats.org/officeDocument/2006/relationships/hyperlink" Target="../selecao.html" TargetMode="External" /><Relationship Id="rId4" Type="http://schemas.openxmlformats.org/officeDocument/2006/relationships/image" Target="../media/image8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../inscricao.html" TargetMode="External" /><Relationship Id="rId3" Type="http://schemas.openxmlformats.org/officeDocument/2006/relationships/hyperlink" Target="../selecao.html" TargetMode="External" /><Relationship Id="rId4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Avalia+Tec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Pitch Deck para submissão na Fase 1 de Ideias Inovadoras do Programa Centelha 3 Bahia</a:t>
            </a:r>
            <a:br/>
            <a:br/>
            <a:r>
              <a:rPr/>
              <a:t>Equipe Avalia+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 Definitiva para Governança em Seleções</a:t>
            </a:r>
          </a:p>
        </p:txBody>
      </p:sp>
      <p:pic>
        <p:nvPicPr>
          <p:cNvPr descr="img/logo_avalia_horizon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92800" y="5105400"/>
            <a:ext cx="977900" cy="26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Transformamos processos seletivos vulneráveis em fluxos auditáveis, seguros e 100% digitais.</a:t>
            </a:r>
          </a:p>
          <a:p>
            <a:pPr lvl="0" indent="0" marL="0">
              <a:buNone/>
            </a:pPr>
            <a:r>
              <a:rPr/>
              <a:t>Plataforma SaaS para </a:t>
            </a:r>
            <a:r>
              <a:rPr b="1">
                <a:hlinkClick r:id="rId2"/>
              </a:rPr>
              <a:t>inscrição</a:t>
            </a:r>
            <a:r>
              <a:rPr/>
              <a:t>, </a:t>
            </a:r>
            <a:r>
              <a:rPr b="1">
                <a:hlinkClick r:id="rId3"/>
              </a:rPr>
              <a:t>avaliação</a:t>
            </a:r>
            <a:r>
              <a:rPr/>
              <a:t> e </a:t>
            </a:r>
            <a:r>
              <a:rPr b="1">
                <a:hlinkClick r:id="rId4"/>
              </a:rPr>
              <a:t>consolidação</a:t>
            </a:r>
            <a:r>
              <a:rPr/>
              <a:t> com integridade jurídica.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Problema: O Caos da Gestão Manual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Processos seletivos geridos por e-mail e planilhas são uma </a:t>
            </a:r>
            <a:r>
              <a:rPr b="1"/>
              <a:t>bomba-relógio jurídica e operacional</a:t>
            </a:r>
            <a:r>
              <a:rPr/>
              <a:t>.</a:t>
            </a:r>
          </a:p>
          <a:p>
            <a:pPr lvl="0"/>
            <a:r>
              <a:rPr b="1"/>
              <a:t>Risco Jurídico Imediato:</a:t>
            </a:r>
            <a:r>
              <a:rPr/>
              <a:t> Falta de rastreabilidade abre margem para recursos e anulação de editais.</a:t>
            </a:r>
          </a:p>
          <a:p>
            <a:pPr lvl="0"/>
            <a:r>
              <a:rPr b="1"/>
              <a:t>Ineficiência Operacional:</a:t>
            </a:r>
            <a:r>
              <a:rPr/>
              <a:t> Horas perdidas consolidando versões conflitantes de planilhas.</a:t>
            </a:r>
          </a:p>
          <a:p>
            <a:pPr lvl="0"/>
            <a:r>
              <a:rPr b="1"/>
              <a:t>Vulnerabilidade LGPD:</a:t>
            </a:r>
            <a:r>
              <a:rPr/>
              <a:t> Dados sensíveis de candidatos circulando sem controle em caixas de e-mail.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Evidências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Solução: Centralização com Rastreabilidade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ambiente único que garante </a:t>
            </a:r>
            <a:r>
              <a:rPr b="1"/>
              <a:t>governança</a:t>
            </a:r>
            <a:r>
              <a:rPr/>
              <a:t> do início ao fim.</a:t>
            </a:r>
          </a:p>
          <a:p>
            <a:pPr lvl="0"/>
            <a:r>
              <a:rPr b="1"/>
              <a:t>Fluxo End-to-End:</a:t>
            </a:r>
            <a:r>
              <a:rPr/>
              <a:t> </a:t>
            </a:r>
            <a:r>
              <a:rPr>
                <a:hlinkClick r:id="rId2"/>
              </a:rPr>
              <a:t>Inscrição</a:t>
            </a:r>
            <a:r>
              <a:rPr/>
              <a:t> → </a:t>
            </a:r>
            <a:r>
              <a:rPr>
                <a:hlinkClick r:id="rId3"/>
              </a:rPr>
              <a:t>Avaliação</a:t>
            </a:r>
            <a:r>
              <a:rPr/>
              <a:t> → Consolidação → Resultado.</a:t>
            </a:r>
          </a:p>
          <a:p>
            <a:pPr lvl="0"/>
            <a:r>
              <a:rPr b="1"/>
              <a:t>Transparência Total:</a:t>
            </a:r>
            <a:r>
              <a:rPr/>
              <a:t> O candidato acompanha cada etapa, reduzindo a desconfiança e a judicialização.</a:t>
            </a:r>
          </a:p>
          <a:p>
            <a:pPr lvl="0"/>
            <a:r>
              <a:rPr b="1"/>
              <a:t>Eficiência:</a:t>
            </a:r>
            <a:r>
              <a:rPr/>
              <a:t> Eliminação de retrabalho manual e erros de consolidação.</a:t>
            </a:r>
          </a:p>
        </p:txBody>
      </p:sp>
      <p:pic>
        <p:nvPicPr>
          <p:cNvPr descr="prints/manual/fig-46-comissao-campos-notas-calculadas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1206500"/>
            <a:ext cx="51054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Diferencial: Blindagem Jurídica (Tecnologia)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Não é apenas software, é </a:t>
            </a:r>
            <a:r>
              <a:rPr b="1"/>
              <a:t>segurança jurídica</a:t>
            </a:r>
            <a:r>
              <a:rPr/>
              <a:t> via tecnologia.</a:t>
            </a:r>
          </a:p>
          <a:p>
            <a:pPr lvl="0"/>
            <a:r>
              <a:rPr b="1"/>
              <a:t>Prova de Integridade (Hash SHA-256):</a:t>
            </a:r>
            <a:r>
              <a:rPr/>
              <a:t> Cada documento recebe um selo criptográfico imutável. Garantia matemática de que o avaliado é o submetido.</a:t>
            </a:r>
          </a:p>
          <a:p>
            <a:pPr lvl="0"/>
            <a:r>
              <a:rPr b="1"/>
              <a:t>Auditoria Instantânea:</a:t>
            </a:r>
            <a:r>
              <a:rPr/>
              <a:t> Em caso de recurso, a prova técnica está pronta em segundos.</a:t>
            </a:r>
          </a:p>
          <a:p>
            <a:pPr lvl="0"/>
            <a:r>
              <a:rPr b="1"/>
              <a:t>Fim das Disputas:</a:t>
            </a:r>
            <a:r>
              <a:rPr/>
              <a:t> Elimina dúvidas sobre “qual versão vale”.</a:t>
            </a:r>
          </a:p>
        </p:txBody>
      </p:sp>
      <p:pic>
        <p:nvPicPr>
          <p:cNvPr descr="prints/manual/fig-17-pdf-protocolo-has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08100"/>
            <a:ext cx="5105400" cy="215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Privacidade e Compliance (LGPD)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Proteção de dados como </a:t>
            </a:r>
            <a:r>
              <a:rPr b="1"/>
              <a:t>vantagem competitiva</a:t>
            </a:r>
            <a:r>
              <a:rPr/>
              <a:t>, não apenas obrigação.</a:t>
            </a:r>
          </a:p>
          <a:p>
            <a:pPr lvl="0"/>
            <a:r>
              <a:rPr b="1"/>
              <a:t>Blind Review Real:</a:t>
            </a:r>
            <a:r>
              <a:rPr/>
              <a:t> Avaliadores focam no mérito, sem acesso a dados pessoais (viés reduzido).</a:t>
            </a:r>
          </a:p>
          <a:p>
            <a:pPr lvl="0"/>
            <a:r>
              <a:rPr b="1"/>
              <a:t>Anonimização Segura (HMAC):</a:t>
            </a:r>
            <a:r>
              <a:rPr/>
              <a:t> Validação de unicidade (CPF) sem expor o dado real.</a:t>
            </a:r>
          </a:p>
          <a:p>
            <a:pPr lvl="0"/>
            <a:r>
              <a:rPr b="1"/>
              <a:t>Segurança por Design:</a:t>
            </a:r>
            <a:r>
              <a:rPr/>
              <a:t> Minimização de dados desde a arquitetura.</a:t>
            </a:r>
          </a:p>
        </p:txBody>
      </p:sp>
      <p:pic>
        <p:nvPicPr>
          <p:cNvPr descr="prints/manual/fig-10-blind-review-exemplo-dados-pessoa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57200"/>
            <a:ext cx="51054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Mercado: Busca por Conformidade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oceano azul em meio a ferramentas genéricas de eventos.</a:t>
            </a:r>
          </a:p>
          <a:p>
            <a:pPr lvl="0"/>
            <a:r>
              <a:rPr b="1"/>
              <a:t>TAM (Mercado Total):</a:t>
            </a:r>
            <a:r>
              <a:rPr/>
              <a:t> </a:t>
            </a:r>
            <a:r>
              <a:rPr b="1"/>
              <a:t>R$ 14,6 Bilhões</a:t>
            </a:r>
            <a:r>
              <a:rPr/>
              <a:t> (Orçamento MCTI 2024 para Ciência e Tecnologia).</a:t>
            </a:r>
          </a:p>
          <a:p>
            <a:pPr lvl="0"/>
            <a:r>
              <a:rPr b="1"/>
              <a:t>SAM (Nosso Foco):</a:t>
            </a:r>
            <a:r>
              <a:rPr/>
              <a:t> </a:t>
            </a:r>
            <a:r>
              <a:rPr b="1"/>
              <a:t>+100 Fundações de Apoio</a:t>
            </a:r>
            <a:r>
              <a:rPr/>
              <a:t> (CONFIES) e </a:t>
            </a:r>
            <a:r>
              <a:rPr b="1"/>
              <a:t>110 Instituições Federais</a:t>
            </a:r>
            <a:r>
              <a:rPr/>
              <a:t> (69 Univ. + 41 IFs) que gerem esses recursos.</a:t>
            </a:r>
          </a:p>
          <a:p>
            <a:pPr lvl="0"/>
            <a:r>
              <a:rPr b="1"/>
              <a:t>SOM (Meta 2 anos):</a:t>
            </a:r>
            <a:r>
              <a:rPr/>
              <a:t> Validar em 5 Fundações (Bahia/Nordeste) e expandir para 50 instituições.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Por que o Avalia+Tec? (Concorrência)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Ferramentas de </a:t>
            </a:r>
            <a:r>
              <a:rPr b="1"/>
              <a:t>eventos</a:t>
            </a:r>
            <a:r>
              <a:rPr/>
              <a:t> não entregam </a:t>
            </a:r>
            <a:r>
              <a:rPr b="1"/>
              <a:t>segurança jurídica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/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Even3 / Doity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Google 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Avalia+Tec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Foco Principal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Congressos/Eventos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Pesquisas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Seleções/Editais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Gestão de Banca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Foco Acadêmico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Manual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Auditável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Integridade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Nenhuma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Nenhuma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Hash SHA-256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Risco Jurídico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Médio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Alto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Blindado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Modelo de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SaaS B2B flexível para a realidade dos editais.</a:t>
            </a:r>
          </a:p>
          <a:p>
            <a:pPr lvl="0"/>
            <a:r>
              <a:rPr b="1"/>
              <a:t>Licença por Edital:</a:t>
            </a:r>
            <a:r>
              <a:rPr/>
              <a:t> Para demandas pontuais (Ticket médio: R$ 4,5k).</a:t>
            </a:r>
          </a:p>
          <a:p>
            <a:pPr lvl="0"/>
            <a:r>
              <a:rPr b="1"/>
              <a:t>Assinatura Anual:</a:t>
            </a:r>
            <a:r>
              <a:rPr/>
              <a:t> Para instituições com fluxo recorrente (Ticket médio: R$ 30k/ano).</a:t>
            </a:r>
          </a:p>
          <a:p>
            <a:pPr lvl="0"/>
            <a:r>
              <a:rPr b="1"/>
              <a:t>Setup + Suporte:</a:t>
            </a:r>
            <a:r>
              <a:rPr/>
              <a:t> Consultoria na configuração do certame (Incluso no plano anual).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Estágio Atual e Tração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MVP Funcional e Validado.</a:t>
            </a:r>
          </a:p>
          <a:p>
            <a:pPr lvl="0"/>
            <a:r>
              <a:rPr/>
              <a:t>Módulos de </a:t>
            </a:r>
            <a:r>
              <a:rPr>
                <a:hlinkClick r:id="rId2"/>
              </a:rPr>
              <a:t>Inscrição</a:t>
            </a:r>
            <a:r>
              <a:rPr/>
              <a:t> e </a:t>
            </a:r>
            <a:r>
              <a:rPr>
                <a:hlinkClick r:id="rId3"/>
              </a:rPr>
              <a:t>Avaliação</a:t>
            </a:r>
            <a:r>
              <a:rPr/>
              <a:t> operacionais.</a:t>
            </a:r>
          </a:p>
          <a:p>
            <a:pPr lvl="0"/>
            <a:r>
              <a:rPr/>
              <a:t>Sistema de Recursos e Resultados implementado.</a:t>
            </a:r>
          </a:p>
          <a:p>
            <a:pPr lvl="0"/>
            <a:r>
              <a:rPr/>
              <a:t>Arquitetura escalável (Node.js + JSON/PostgreSQL).</a:t>
            </a:r>
          </a:p>
          <a:p>
            <a:pPr lvl="0"/>
            <a:r>
              <a:rPr/>
              <a:t>Próximo passo: Validação comercial com pilotos pagos.</a:t>
            </a:r>
          </a:p>
        </p:txBody>
      </p:sp>
      <p:pic>
        <p:nvPicPr>
          <p:cNvPr descr="prints/manual/fig-24-admin-dashboard-tabela-protocolo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3568700" y="1219200"/>
            <a:ext cx="5105400" cy="233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Roadmap e Uso do Recurso (Centelha)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Objetivo:</a:t>
            </a:r>
            <a:r>
              <a:rPr/>
              <a:t> Transformar o MVP em Produto de Mercado.</a:t>
            </a:r>
          </a:p>
          <a:p>
            <a:pPr lvl="0"/>
            <a:r>
              <a:rPr b="1"/>
              <a:t>Meta (6 meses):</a:t>
            </a:r>
            <a:r>
              <a:rPr/>
              <a:t> Finalizar módulo de relatórios gerenciais e executar </a:t>
            </a:r>
            <a:r>
              <a:rPr b="1"/>
              <a:t>3 pilotos pagos</a:t>
            </a:r>
            <a:r>
              <a:rPr/>
              <a:t>.</a:t>
            </a:r>
          </a:p>
          <a:p>
            <a:pPr lvl="0"/>
            <a:r>
              <a:rPr b="1"/>
              <a:t>Investimento (R$ 60k):</a:t>
            </a:r>
          </a:p>
          <a:p>
            <a:pPr lvl="1"/>
            <a:r>
              <a:rPr/>
              <a:t>50% Desenvolvimento (Finalização de features).</a:t>
            </a:r>
          </a:p>
          <a:p>
            <a:pPr lvl="1"/>
            <a:r>
              <a:rPr/>
              <a:t>30% Marketing e Vendas (Aquisição de pilotos).</a:t>
            </a:r>
          </a:p>
          <a:p>
            <a:pPr lvl="1"/>
            <a:r>
              <a:rPr/>
              <a:t>20% Infraestrutura e Jurídico.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Equipe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Diego</a:t>
            </a:r>
          </a:p>
          <a:p>
            <a:pPr lvl="0" indent="0" marL="0">
              <a:buNone/>
            </a:pPr>
            <a:r>
              <a:rPr/>
              <a:t>Produto, validação com usuários, implantação e pilotos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Catuxe Varjão</a:t>
            </a:r>
          </a:p>
          <a:p>
            <a:pPr lvl="0" indent="0" marL="0">
              <a:buNone/>
            </a:pPr>
            <a:r>
              <a:rPr/>
              <a:t>Engenharia, qualidade (MPS.BR) e controles (HMAC)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Dulce Paloma</a:t>
            </a:r>
          </a:p>
          <a:p>
            <a:pPr lvl="0" indent="0" marL="0">
              <a:buNone/>
            </a:pPr>
            <a:r>
              <a:rPr/>
              <a:t>Jurídico/Compliance, LGPD e aderência legal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Everaldo Fontes</a:t>
            </a:r>
          </a:p>
          <a:p>
            <a:pPr lvl="0" indent="0" marL="0">
              <a:buNone/>
            </a:pPr>
            <a:r>
              <a:rPr/>
              <a:t>Programação e validação com usuários</a:t>
            </a:r>
          </a:p>
        </p:txBody>
      </p:sp>
    </p:spTree>
  </p:cSld>
</p:sld>
</file>

<file path=ppt/theme/theme1.xml><?xml version="1.0" encoding="utf-8"?>
<a:theme xmlns:a="http://schemas.openxmlformats.org/drawingml/2006/main" name="Template">
  <a:themeElements>
    <a:clrScheme name="Laranja Amarelo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Personalizada 5">
      <a:majorFont>
        <a:latin typeface="Bahnschrift"/>
        <a:ea typeface=""/>
        <a:cs typeface=""/>
      </a:majorFont>
      <a:minorFont>
        <a:latin typeface="Bahnschrift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" id="{97255C85-0B80-4E60-9D05-5F61BE6F5B0D}" vid="{6CC80195-0220-4972-A526-2B1ECEC5E5B7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1590</TotalTime>
  <Words>2577</Words>
  <Application>Microsoft Office PowerPoint</Application>
  <PresentationFormat>Widescreen</PresentationFormat>
  <Paragraphs>355</Paragraphs>
  <Slides>21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6" baseType="lpstr">
      <vt:lpstr>Bahnschrift</vt:lpstr>
      <vt:lpstr>Bahnschrift SemiBold</vt:lpstr>
      <vt:lpstr>Calibri</vt:lpstr>
      <vt:lpstr>Tw Cen MT Condensed</vt:lpstr>
      <vt:lpstr>Template</vt:lpstr>
      <vt:lpstr>Tema 5</vt:lpstr>
      <vt:lpstr>📋 Agenda da Aula</vt:lpstr>
      <vt:lpstr>Evolução da Gestão da Inovação Tecnológica (GIT)</vt:lpstr>
      <vt:lpstr>🚪 Modelo Stage-Gate (Cooper, 1990/2008)</vt:lpstr>
      <vt:lpstr>🛡️ Decisões de PI no Stage-Gate</vt:lpstr>
      <vt:lpstr>🛡️ Decisões de PI: Gate 2 - Viabilidade</vt:lpstr>
      <vt:lpstr>🛡️ Decisões de PI: Gates 3, 4 e 5</vt:lpstr>
      <vt:lpstr>📊 Escala TRL (Technology Readiness Levels)</vt:lpstr>
      <vt:lpstr>🧠 Capacidade Absortiva</vt:lpstr>
      <vt:lpstr>🧠 Capacidades Dinâmicas</vt:lpstr>
      <vt:lpstr>🧠 Ambidestria Organizacional</vt:lpstr>
      <vt:lpstr>Capacidade Absortiva: Natureza Path-Dependent</vt:lpstr>
      <vt:lpstr>Ferramentas Analíticas de PI</vt:lpstr>
      <vt:lpstr>Indicadores de Performance de PI</vt:lpstr>
      <vt:lpstr>Marco Regulatório Brasileiro de PI</vt:lpstr>
      <vt:lpstr>🔗 Integração Stage-Gate + TRL + PI</vt:lpstr>
      <vt:lpstr>🎯 Caso Aplicado: Universidade Federal de Sergipe</vt:lpstr>
      <vt:lpstr>🎓 Síntese Conceitual</vt:lpstr>
      <vt:lpstr> 1. Como equilibrar o imperativo de publicação acadêmica (avaliação docente) com a necessidade de proteção de PI antes da divulgação? 2. Quais critérios devem orientar a decisão entre licenciamento, spin-off ou exploração direta de uma tecnologia universitária? 3. De que forma NITs de universidades pequenas podem superar limitações de capacidade técnica e orçamentária? 4. Como integrar políticas de inovação aberta (fluxos externos) com proteção de PI (barreiras de exclusão)?</vt:lpstr>
      <vt:lpstr> CHESBROUGH, H. (2003). Open Innovation: The New Imperative for Creating and Profiting from Technology. Harvard Business School Press. COHEN, W.; LEVINTHAL, D. (1990). Absorptive Capacity: A New Perspective on Learning and Innovation. Administrative Science Quarterly, 35(1), 128-152. COOPER, R. (1990). Stage-Gate Systems: A New Tool for Managing New Products. Business Horizons, 33(3), 44-54. COOPER, R. (2008). Perspective: The Stage-Gate Idea-to-Launch Process—Update, What's New, and NexGen Systems. Journal of Product Innovation Management, 25(3), 213-232. KLINE, S.; ROSENBERG, N. (1986). An Overview of Innovation. In: LANDAU, R.; ROSENBERG, N. (Eds.). The Positive Sum Strategy. National Academy Press. MANKINS, J. (1995). Technology Readiness Levels: A White Paper. NASA. TEECE, D. (1986). Profiting from Technological Innovation. Research Policy, 15(6), 285-305. TEECE, D. (2007). Explicating Dynamic Capabilities. Strategic Management Journal, 28(13), 1319-1350.</vt:lpstr>
      <vt:lpstr> 📧 email@ufs.br 🔗 lattes.cnpq.br/[seu-lattes] Concurso Público - Gestão da Inovação Tecnológica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Avalia+Tec</dc:title>
  <dc:creator>Equipe Avalia+</dc:creator>
  <cp:keywords/>
  <dcterms:created xsi:type="dcterms:W3CDTF">2026-01-06T10:41:40Z</dcterms:created>
  <dcterms:modified xsi:type="dcterms:W3CDTF">2026-01-06T10:41:40Z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2026-01-01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Pitch Deck para submissão na Fase 1 de Ideias Inovadoras do Programa Centelha 3 Bahia</vt:lpwstr>
  </property>
  <property fmtid="{D5CDD505-2E9C-101B-9397-08002B2CF9AE}" pid="12" name="toc-title">
    <vt:lpwstr>Índice</vt:lpwstr>
  </property>
</Properties>
</file>